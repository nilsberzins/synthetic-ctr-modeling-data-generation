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Montserrat"/>
      <p:regular r:id="rId35"/>
      <p:bold r:id="rId36"/>
      <p:italic r:id="rId37"/>
      <p:boldItalic r:id="rId38"/>
    </p:embeddedFont>
    <p:embeddedFont>
      <p:font typeface="Montserrat Medium"/>
      <p:regular r:id="rId39"/>
      <p:bold r:id="rId40"/>
      <p:italic r:id="rId41"/>
      <p:boldItalic r:id="rId42"/>
    </p:embeddedFont>
    <p:embeddedFont>
      <p:font typeface="Source Serif 4"/>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F6E047-CD46-4977-9190-7814317B4295}">
  <a:tblStyle styleId="{38F6E047-CD46-4977-9190-7814317B429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fntdata"/><Relationship Id="rId20" Type="http://schemas.openxmlformats.org/officeDocument/2006/relationships/slide" Target="slides/slide14.xml"/><Relationship Id="rId42" Type="http://schemas.openxmlformats.org/officeDocument/2006/relationships/font" Target="fonts/MontserratMedium-boldItalic.fntdata"/><Relationship Id="rId41" Type="http://schemas.openxmlformats.org/officeDocument/2006/relationships/font" Target="fonts/MontserratMedium-italic.fntdata"/><Relationship Id="rId22" Type="http://schemas.openxmlformats.org/officeDocument/2006/relationships/slide" Target="slides/slide16.xml"/><Relationship Id="rId44" Type="http://schemas.openxmlformats.org/officeDocument/2006/relationships/font" Target="fonts/SourceSerif4-bold.fntdata"/><Relationship Id="rId21" Type="http://schemas.openxmlformats.org/officeDocument/2006/relationships/slide" Target="slides/slide15.xml"/><Relationship Id="rId43" Type="http://schemas.openxmlformats.org/officeDocument/2006/relationships/font" Target="fonts/SourceSerif4-regular.fntdata"/><Relationship Id="rId24" Type="http://schemas.openxmlformats.org/officeDocument/2006/relationships/slide" Target="slides/slide18.xml"/><Relationship Id="rId46" Type="http://schemas.openxmlformats.org/officeDocument/2006/relationships/font" Target="fonts/SourceSerif4-boldItalic.fntdata"/><Relationship Id="rId23" Type="http://schemas.openxmlformats.org/officeDocument/2006/relationships/slide" Target="slides/slide17.xml"/><Relationship Id="rId45" Type="http://schemas.openxmlformats.org/officeDocument/2006/relationships/font" Target="fonts/SourceSerif4-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italic.fntdata"/><Relationship Id="rId14" Type="http://schemas.openxmlformats.org/officeDocument/2006/relationships/slide" Target="slides/slide8.xml"/><Relationship Id="rId36" Type="http://schemas.openxmlformats.org/officeDocument/2006/relationships/font" Target="fonts/Montserrat-bold.fntdata"/><Relationship Id="rId17" Type="http://schemas.openxmlformats.org/officeDocument/2006/relationships/slide" Target="slides/slide11.xml"/><Relationship Id="rId39" Type="http://schemas.openxmlformats.org/officeDocument/2006/relationships/font" Target="fonts/MontserratMedium-regular.fntdata"/><Relationship Id="rId16" Type="http://schemas.openxmlformats.org/officeDocument/2006/relationships/slide" Target="slides/slide10.xml"/><Relationship Id="rId38" Type="http://schemas.openxmlformats.org/officeDocument/2006/relationships/font" Target="fonts/Montserra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d1dceb5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d1dceb5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9d1dceb53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9d1dceb53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 comparison of large language models vs. deep learning methods to generate synthetic data and develop a pipeline to do so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d1dceb5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9d1dceb5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rgbClr val="222222"/>
                </a:solidFill>
                <a:highlight>
                  <a:srgbClr val="FFFFFF"/>
                </a:highlight>
              </a:rPr>
              <a:t>Because of computational constraints, we did a subgrouping by extracting six task_id subgroups with highest occurrence frequency, and then we extracted the users (user_id) who had ever had a positive label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ba6f563c5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aba6f563c5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Uninformative features - based on what Thomas did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9d1dceb53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9d1dceb53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ace0b8ef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ace0b8ef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ace0b8ef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aace0b8ef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d1dceb536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9d1dceb536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ab7b7f249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ab7b7f249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LUCY - </a:t>
            </a:r>
            <a:endParaRPr/>
          </a:p>
          <a:p>
            <a:pPr indent="-298450" lvl="0" marL="457200" rtl="0" algn="l">
              <a:spcBef>
                <a:spcPts val="0"/>
              </a:spcBef>
              <a:spcAft>
                <a:spcPts val="0"/>
              </a:spcAft>
              <a:buSzPts val="1100"/>
              <a:buChar char="-"/>
            </a:pPr>
            <a:r>
              <a:rPr lang="en"/>
              <a:t>2 different models to generate synthetic data</a:t>
            </a:r>
            <a:endParaRPr/>
          </a:p>
          <a:p>
            <a:pPr indent="-298450" lvl="0" marL="457200" rtl="0" algn="l">
              <a:spcBef>
                <a:spcPts val="0"/>
              </a:spcBef>
              <a:spcAft>
                <a:spcPts val="0"/>
              </a:spcAft>
              <a:buSzPts val="1100"/>
              <a:buChar char="-"/>
            </a:pPr>
            <a:r>
              <a:rPr lang="en"/>
              <a:t>Realtabformer: can do relational and non-relational data</a:t>
            </a:r>
            <a:endParaRPr/>
          </a:p>
          <a:p>
            <a:pPr indent="-298450" lvl="0" marL="457200" rtl="0" algn="l">
              <a:spcBef>
                <a:spcPts val="0"/>
              </a:spcBef>
              <a:spcAft>
                <a:spcPts val="0"/>
              </a:spcAft>
              <a:buSzPts val="1100"/>
              <a:buChar char="-"/>
            </a:pPr>
            <a:r>
              <a:rPr lang="en"/>
              <a:t>Autoregressive transformer model learns the </a:t>
            </a:r>
            <a:r>
              <a:rPr lang="en"/>
              <a:t>conditional distribution, </a:t>
            </a:r>
            <a:r>
              <a:rPr lang="en">
                <a:solidFill>
                  <a:schemeClr val="dk1"/>
                </a:solidFill>
              </a:rPr>
              <a:t>assuming that there are dependencies in a given row of data.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In generation, sequentially generates tokens for each row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Shortened training, which may have hampered the quality of the generated data. Need further time to continue with hyperparameter tuning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Full sensitivity: </a:t>
            </a:r>
            <a:r>
              <a:rPr lang="en" sz="1200">
                <a:solidFill>
                  <a:srgbClr val="464649"/>
                </a:solidFill>
                <a:highlight>
                  <a:srgbClr val="F2F2F3"/>
                </a:highlight>
              </a:rPr>
              <a:t>This sensitivity metric is used to assess whether synthetic data systematically copies observations from the training data, which could indicate overfitting or privacy risks.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b7b7f249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ab7b7f249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LUCY - more classical approach</a:t>
            </a:r>
            <a:endParaRPr/>
          </a:p>
          <a:p>
            <a:pPr indent="-298450" lvl="0" marL="457200" rtl="0" algn="l">
              <a:spcBef>
                <a:spcPts val="0"/>
              </a:spcBef>
              <a:spcAft>
                <a:spcPts val="0"/>
              </a:spcAft>
              <a:buSzPts val="1100"/>
              <a:buChar char="-"/>
            </a:pPr>
            <a:r>
              <a:rPr lang="en"/>
              <a:t>LLM vs. more classical approach</a:t>
            </a:r>
            <a:endParaRPr/>
          </a:p>
          <a:p>
            <a:pPr indent="-298450" lvl="0" marL="457200" rtl="0" algn="l">
              <a:spcBef>
                <a:spcPts val="0"/>
              </a:spcBef>
              <a:spcAft>
                <a:spcPts val="0"/>
              </a:spcAft>
              <a:buSzPts val="1100"/>
              <a:buChar char="-"/>
            </a:pPr>
            <a:r>
              <a:rPr lang="en"/>
              <a:t>Explain GAN</a:t>
            </a:r>
            <a:endParaRPr/>
          </a:p>
          <a:p>
            <a:pPr indent="-298450" lvl="0" marL="457200" rtl="0" algn="l">
              <a:spcBef>
                <a:spcPts val="0"/>
              </a:spcBef>
              <a:spcAft>
                <a:spcPts val="0"/>
              </a:spcAft>
              <a:buSzPts val="1100"/>
              <a:buChar char="-"/>
            </a:pPr>
            <a:r>
              <a:rPr lang="en"/>
              <a:t>Techniques to learn distributions</a:t>
            </a:r>
            <a:endParaRPr/>
          </a:p>
          <a:p>
            <a:pPr indent="-298450" lvl="0" marL="457200" rtl="0" algn="l">
              <a:spcBef>
                <a:spcPts val="0"/>
              </a:spcBef>
              <a:spcAft>
                <a:spcPts val="0"/>
              </a:spcAft>
              <a:buSzPts val="1100"/>
              <a:buChar char="-"/>
            </a:pPr>
            <a:r>
              <a:rPr lang="en"/>
              <a:t>Was able to train more epochs due to less time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aa40530d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aa40530d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LUCY  given these 2 datasets, Skeleton - fidelity, utility, privacy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ba6f563c5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ba6f563c5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LUCY - as a baseline, </a:t>
            </a:r>
            <a:r>
              <a:rPr lang="en"/>
              <a:t>target masking randomly masks some tokens in a row. Learn with masks, but then force model during generation to fill in the masked values probabilistically </a:t>
            </a:r>
            <a:endParaRPr/>
          </a:p>
          <a:p>
            <a:pPr indent="0" lvl="0" marL="0" rtl="0" algn="l">
              <a:spcBef>
                <a:spcPts val="0"/>
              </a:spcBef>
              <a:spcAft>
                <a:spcPts val="0"/>
              </a:spcAft>
              <a:buNone/>
            </a:pPr>
            <a:r>
              <a:rPr lang="en"/>
              <a:t>DCR: for each record in the synthetic dataset, what’s the distance to the closest real data record? Don’t want the average DCR to be too low, so realtabformer has early stop</a:t>
            </a:r>
            <a:endParaRPr/>
          </a:p>
          <a:p>
            <a:pPr indent="0" lvl="0" marL="0" rtl="0" algn="l">
              <a:spcBef>
                <a:spcPts val="0"/>
              </a:spcBef>
              <a:spcAft>
                <a:spcPts val="0"/>
              </a:spcAft>
              <a:buNone/>
            </a:pPr>
            <a:r>
              <a:rPr lang="en" sz="1200">
                <a:solidFill>
                  <a:srgbClr val="464649"/>
                </a:solidFill>
                <a:highlight>
                  <a:srgbClr val="FFFFFF"/>
                </a:highlight>
              </a:rPr>
              <a:t>Membership inference attacks: classifier to determine if a record was in the real dataset for creating synthetic data</a:t>
            </a:r>
            <a:endParaRPr sz="1200">
              <a:solidFill>
                <a:srgbClr val="464649"/>
              </a:solidFill>
              <a:highlight>
                <a:srgbClr val="FFFFFF"/>
              </a:highlight>
            </a:endParaRPr>
          </a:p>
          <a:p>
            <a:pPr indent="0" lvl="0" marL="0" rtl="0" algn="l">
              <a:spcBef>
                <a:spcPts val="0"/>
              </a:spcBef>
              <a:spcAft>
                <a:spcPts val="0"/>
              </a:spcAft>
              <a:buNone/>
            </a:pPr>
            <a:r>
              <a:t/>
            </a:r>
            <a:endParaRPr sz="1200">
              <a:solidFill>
                <a:srgbClr val="464649"/>
              </a:solidFill>
              <a:highlight>
                <a:srgbClr val="FFFFFF"/>
              </a:highlight>
            </a:endParaRPr>
          </a:p>
          <a:p>
            <a:pPr indent="0" lvl="0" marL="0" rtl="0" algn="l">
              <a:spcBef>
                <a:spcPts val="0"/>
              </a:spcBef>
              <a:spcAft>
                <a:spcPts val="0"/>
              </a:spcAft>
              <a:buClr>
                <a:schemeClr val="dk1"/>
              </a:buClr>
              <a:buSzPts val="1100"/>
              <a:buFont typeface="Arial"/>
              <a:buNone/>
            </a:pPr>
            <a:r>
              <a:rPr lang="en" sz="1200">
                <a:solidFill>
                  <a:srgbClr val="464649"/>
                </a:solidFill>
                <a:highlight>
                  <a:srgbClr val="FFFFFF"/>
                </a:highlight>
              </a:rPr>
              <a:t>Attribute disclosure risk refers to the possibility that an intruder can determine new or additional information about an individual's attributes from released data, even without directly identifying the individual</a:t>
            </a:r>
            <a:endParaRPr sz="1200">
              <a:solidFill>
                <a:srgbClr val="464649"/>
              </a:solidFill>
              <a:highlight>
                <a:srgbClr val="FFFFFF"/>
              </a:highlight>
            </a:endParaRPr>
          </a:p>
          <a:p>
            <a:pPr indent="0" lvl="0" marL="0" rtl="0" algn="l">
              <a:spcBef>
                <a:spcPts val="0"/>
              </a:spcBef>
              <a:spcAft>
                <a:spcPts val="0"/>
              </a:spcAft>
              <a:buNone/>
            </a:pPr>
            <a:r>
              <a:t/>
            </a:r>
            <a:endParaRPr sz="1200">
              <a:solidFill>
                <a:srgbClr val="464649"/>
              </a:solidFill>
              <a:highlight>
                <a:srgbClr val="FFFFFF"/>
              </a:high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ba6f563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aba6f563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aace0b8ef8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aace0b8ef8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aace0b8ef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aace0b8ef8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I’m comparing the distributional fidelity of two key features from our advertisement click-through dataset: </a:t>
            </a:r>
            <a:r>
              <a:rPr b="1" lang="en">
                <a:solidFill>
                  <a:schemeClr val="dk1"/>
                </a:solidFill>
              </a:rPr>
              <a:t>u_refreshTimes</a:t>
            </a:r>
            <a:r>
              <a:rPr lang="en">
                <a:solidFill>
                  <a:schemeClr val="dk1"/>
                </a:solidFill>
              </a:rPr>
              <a:t> and </a:t>
            </a:r>
            <a:r>
              <a:rPr b="1" lang="en">
                <a:solidFill>
                  <a:schemeClr val="dk1"/>
                </a:solidFill>
              </a:rPr>
              <a:t>click_count_mean</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you see the </a:t>
            </a:r>
            <a:r>
              <a:rPr b="1" lang="en">
                <a:solidFill>
                  <a:schemeClr val="dk1"/>
                </a:solidFill>
              </a:rPr>
              <a:t>CTGAN</a:t>
            </a:r>
            <a:r>
              <a:rPr lang="en">
                <a:solidFill>
                  <a:schemeClr val="dk1"/>
                </a:solidFill>
              </a:rPr>
              <a:t> synthetic data overlaid on the real distribution, and on the right, you see the same comparison for </a:t>
            </a:r>
            <a:r>
              <a:rPr b="1" lang="en">
                <a:solidFill>
                  <a:schemeClr val="dk1"/>
                </a:solidFill>
              </a:rPr>
              <a:t>ReaLTabFormer</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Both models do a reasonably good job of capturing the </a:t>
            </a:r>
            <a:r>
              <a:rPr b="1" lang="en">
                <a:solidFill>
                  <a:schemeClr val="dk1"/>
                </a:solidFill>
              </a:rPr>
              <a:t>overall shape and regional density</a:t>
            </a:r>
            <a:r>
              <a:rPr lang="en">
                <a:solidFill>
                  <a:schemeClr val="dk1"/>
                </a:solidFill>
              </a:rPr>
              <a:t> of the original data. But visually, ReaLTabFormer shows a </a:t>
            </a:r>
            <a:r>
              <a:rPr b="1" lang="en">
                <a:solidFill>
                  <a:schemeClr val="dk1"/>
                </a:solidFill>
              </a:rPr>
              <a:t>tighter overlap</a:t>
            </a:r>
            <a:r>
              <a:rPr lang="en">
                <a:solidFill>
                  <a:schemeClr val="dk1"/>
                </a:solidFill>
              </a:rPr>
              <a:t> with the real distributions — especially around the major modes. That suggests it’s capturing not just the broad structure, but also the fine-grained density patterns more accurately.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at least from a graphical fidelity standpoint, </a:t>
            </a:r>
            <a:r>
              <a:rPr b="1" lang="en">
                <a:solidFill>
                  <a:schemeClr val="dk1"/>
                </a:solidFill>
              </a:rPr>
              <a:t>ReaLTabFormer appears to produce higher-quality synthetic samples</a:t>
            </a:r>
            <a:r>
              <a:rPr lang="en">
                <a:solidFill>
                  <a:schemeClr val="dk1"/>
                </a:solidFill>
              </a:rPr>
              <a:t> than CTGAN.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a3c7eef0d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a3c7eef0d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this slide, I’m comparing fidelity across both numerical and categorical features using two quantitative metrics: </a:t>
            </a:r>
            <a:r>
              <a:rPr b="1" lang="en">
                <a:solidFill>
                  <a:schemeClr val="dk1"/>
                </a:solidFill>
              </a:rPr>
              <a:t>Total Variational Distance</a:t>
            </a:r>
            <a:r>
              <a:rPr lang="en">
                <a:solidFill>
                  <a:schemeClr val="dk1"/>
                </a:solidFill>
              </a:rPr>
              <a:t> for numeric fidelity, and </a:t>
            </a:r>
            <a:r>
              <a:rPr b="1" lang="en">
                <a:solidFill>
                  <a:schemeClr val="dk1"/>
                </a:solidFill>
              </a:rPr>
              <a:t>Cramer’s V</a:t>
            </a:r>
            <a:r>
              <a:rPr lang="en">
                <a:solidFill>
                  <a:schemeClr val="dk1"/>
                </a:solidFill>
              </a:rPr>
              <a:t> for categorical fidelity.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Starting with the numerical features on the left:</a:t>
            </a:r>
            <a:br>
              <a:rPr lang="en">
                <a:solidFill>
                  <a:schemeClr val="dk1"/>
                </a:solidFill>
              </a:rPr>
            </a:br>
            <a:r>
              <a:rPr lang="en">
                <a:solidFill>
                  <a:schemeClr val="dk1"/>
                </a:solidFill>
              </a:rPr>
              <a:t> </a:t>
            </a:r>
            <a:r>
              <a:rPr b="1" lang="en">
                <a:solidFill>
                  <a:schemeClr val="dk1"/>
                </a:solidFill>
              </a:rPr>
              <a:t>TVD measures how different two distributions are</a:t>
            </a:r>
            <a:r>
              <a:rPr lang="en">
                <a:solidFill>
                  <a:schemeClr val="dk1"/>
                </a:solidFill>
              </a:rPr>
              <a:t>, where zero indicates perfect overlap. In practical terms, values below about 0.1 reflect a very strong match, and anything above 0.3 suggests a meaningful deviation from the real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Across all five numerical features, </a:t>
            </a:r>
            <a:r>
              <a:rPr b="1" lang="en">
                <a:solidFill>
                  <a:schemeClr val="dk1"/>
                </a:solidFill>
              </a:rPr>
              <a:t>ReaLTabFormer consistently achieves much lower TVD values than CTGAN</a:t>
            </a:r>
            <a:r>
              <a:rPr lang="en">
                <a:solidFill>
                  <a:schemeClr val="dk1"/>
                </a:solidFill>
              </a:rPr>
              <a:t>. For example, </a:t>
            </a:r>
            <a:r>
              <a:rPr i="1" lang="en">
                <a:solidFill>
                  <a:schemeClr val="dk1"/>
                </a:solidFill>
              </a:rPr>
              <a:t>u_refreshTimes</a:t>
            </a:r>
            <a:r>
              <a:rPr lang="en">
                <a:solidFill>
                  <a:schemeClr val="dk1"/>
                </a:solidFill>
              </a:rPr>
              <a:t> drops from roughly 0.10 in CTGAN to about 0.03 in RTF, and several features—like </a:t>
            </a:r>
            <a:r>
              <a:rPr i="1" lang="en">
                <a:solidFill>
                  <a:schemeClr val="dk1"/>
                </a:solidFill>
              </a:rPr>
              <a:t>u_feedLifeCycle</a:t>
            </a:r>
            <a:r>
              <a:rPr lang="en">
                <a:solidFill>
                  <a:schemeClr val="dk1"/>
                </a:solidFill>
              </a:rPr>
              <a:t> and </a:t>
            </a:r>
            <a:r>
              <a:rPr i="1" lang="en">
                <a:solidFill>
                  <a:schemeClr val="dk1"/>
                </a:solidFill>
              </a:rPr>
              <a:t>close_count_mean</a:t>
            </a:r>
            <a:r>
              <a:rPr lang="en">
                <a:solidFill>
                  <a:schemeClr val="dk1"/>
                </a:solidFill>
              </a:rPr>
              <a:t>—fall well below 0.02. Even for the feature with the largest deviation, </a:t>
            </a:r>
            <a:r>
              <a:rPr i="1" lang="en">
                <a:solidFill>
                  <a:schemeClr val="dk1"/>
                </a:solidFill>
              </a:rPr>
              <a:t>click_count_mean</a:t>
            </a:r>
            <a:r>
              <a:rPr lang="en">
                <a:solidFill>
                  <a:schemeClr val="dk1"/>
                </a:solidFill>
              </a:rPr>
              <a:t>, RTF cuts the distance by more than half. This tells us that </a:t>
            </a:r>
            <a:r>
              <a:rPr b="1" lang="en">
                <a:solidFill>
                  <a:schemeClr val="dk1"/>
                </a:solidFill>
              </a:rPr>
              <a:t>RTF recreates the real numeric distributions much more faithfully</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Moving to the categorical features on the right, we use </a:t>
            </a:r>
            <a:r>
              <a:rPr b="1" lang="en">
                <a:solidFill>
                  <a:schemeClr val="dk1"/>
                </a:solidFill>
              </a:rPr>
              <a:t>Cramer’s V</a:t>
            </a:r>
            <a:r>
              <a:rPr lang="en">
                <a:solidFill>
                  <a:schemeClr val="dk1"/>
                </a:solidFill>
              </a:rPr>
              <a:t>, which measures the strength of association between categorical variables. Values close to zero indicate weak or no association—which is normal for many features in this dataset—and higher values indicate stronger relationships. What matters here is whether the </a:t>
            </a:r>
            <a:r>
              <a:rPr b="1" lang="en">
                <a:solidFill>
                  <a:schemeClr val="dk1"/>
                </a:solidFill>
              </a:rPr>
              <a:t>synthetic Cramer’s V resembles the real-data association strength</a:t>
            </a:r>
            <a:r>
              <a:rPr lang="en">
                <a:solidFill>
                  <a:schemeClr val="dk1"/>
                </a:solidFill>
              </a:rPr>
              <a:t>, not whether it is large in absolute terms.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looking at marginal distributions—meaning each categorical feature individually—RTF generally produces </a:t>
            </a:r>
            <a:r>
              <a:rPr b="1" lang="en">
                <a:solidFill>
                  <a:schemeClr val="dk1"/>
                </a:solidFill>
              </a:rPr>
              <a:t>Cramer’s V values closer to the real feature distributions</a:t>
            </a:r>
            <a:r>
              <a:rPr lang="en">
                <a:solidFill>
                  <a:schemeClr val="dk1"/>
                </a:solidFill>
              </a:rPr>
              <a:t>. This indicates RTF better replicates the standalone behavior of features like age, gender, city rank, and device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when we examine pairwise relationships, the story is similar. By comparing the </a:t>
            </a:r>
            <a:r>
              <a:rPr b="1" lang="en">
                <a:solidFill>
                  <a:schemeClr val="dk1"/>
                </a:solidFill>
              </a:rPr>
              <a:t>full Cramer’s V matrices</a:t>
            </a:r>
            <a:r>
              <a:rPr lang="en">
                <a:solidFill>
                  <a:schemeClr val="dk1"/>
                </a:solidFill>
              </a:rPr>
              <a:t> for the real data, CTGAN, and RTF, we see that </a:t>
            </a:r>
            <a:r>
              <a:rPr b="1" lang="en">
                <a:solidFill>
                  <a:schemeClr val="dk1"/>
                </a:solidFill>
              </a:rPr>
              <a:t>RTF more accurately preserves the inter-feature relationships</a:t>
            </a:r>
            <a:r>
              <a:rPr lang="en">
                <a:solidFill>
                  <a:schemeClr val="dk1"/>
                </a:solidFill>
              </a:rPr>
              <a:t>, especially for features with moderate association strengths like </a:t>
            </a:r>
            <a:r>
              <a:rPr i="1" lang="en">
                <a:solidFill>
                  <a:schemeClr val="dk1"/>
                </a:solidFill>
              </a:rPr>
              <a:t>device_size</a:t>
            </a:r>
            <a:r>
              <a:rPr lang="en">
                <a:solidFill>
                  <a:schemeClr val="dk1"/>
                </a:solidFill>
              </a:rPr>
              <a:t> and </a:t>
            </a:r>
            <a:r>
              <a:rPr i="1" lang="en">
                <a:solidFill>
                  <a:schemeClr val="dk1"/>
                </a:solidFill>
              </a:rPr>
              <a:t>slot_id</a:t>
            </a:r>
            <a:r>
              <a:rPr lang="en">
                <a:solidFill>
                  <a:schemeClr val="dk1"/>
                </a:solidFill>
              </a:rPr>
              <a:t>. CTGAN tends to deviate more from the real relationship structure, meaning its synthetic feature interactions are less aligned with the true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summary, </a:t>
            </a:r>
            <a:r>
              <a:rPr b="1" lang="en">
                <a:solidFill>
                  <a:schemeClr val="dk1"/>
                </a:solidFill>
              </a:rPr>
              <a:t>ReaLTabFormer shows superior fidelity across both numerical and categorical dimensions</a:t>
            </a:r>
            <a:r>
              <a:rPr lang="en">
                <a:solidFill>
                  <a:schemeClr val="dk1"/>
                </a:solidFill>
              </a:rPr>
              <a:t>. It more closely matches the real feature distributions via lower TVDs, and it better preserves both the individual and pairwise categorical associations reflected by Cramer’s V.”</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a3c7eef0d9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a3c7eef0d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Lower values indicate that the synthetic data maintains the same linear relationships between features that exist in the real data. Higher values—especially those above about 0.20 or 0.25—suggest that the model is distorting or failing to capture those relationships.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Looking first at CTGAN on the left, we see several feature pairs with relatively large correlation differences, often in the </a:t>
            </a:r>
            <a:r>
              <a:rPr b="1" lang="en">
                <a:solidFill>
                  <a:schemeClr val="dk1"/>
                </a:solidFill>
              </a:rPr>
              <a:t>0.25 to 0.35</a:t>
            </a:r>
            <a:r>
              <a:rPr lang="en">
                <a:solidFill>
                  <a:schemeClr val="dk1"/>
                </a:solidFill>
              </a:rPr>
              <a:t> range. That means CTGAN is not consistently preserving how these features move together in the real dataset. For instance, correlations involving </a:t>
            </a:r>
            <a:r>
              <a:rPr i="1" lang="en">
                <a:solidFill>
                  <a:schemeClr val="dk1"/>
                </a:solidFill>
              </a:rPr>
              <a:t>u_refreshTimes</a:t>
            </a:r>
            <a:r>
              <a:rPr lang="en">
                <a:solidFill>
                  <a:schemeClr val="dk1"/>
                </a:solidFill>
              </a:rPr>
              <a:t> and </a:t>
            </a:r>
            <a:r>
              <a:rPr i="1" lang="en">
                <a:solidFill>
                  <a:schemeClr val="dk1"/>
                </a:solidFill>
              </a:rPr>
              <a:t>click_count_mean</a:t>
            </a:r>
            <a:r>
              <a:rPr lang="en">
                <a:solidFill>
                  <a:schemeClr val="dk1"/>
                </a:solidFill>
              </a:rPr>
              <a:t> show some of the largest deviations, indicating notable structural shifts.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contrast, on the right, ReaLTabFormer shows </a:t>
            </a:r>
            <a:r>
              <a:rPr b="1" lang="en">
                <a:solidFill>
                  <a:schemeClr val="dk1"/>
                </a:solidFill>
              </a:rPr>
              <a:t>substantially smaller differences</a:t>
            </a:r>
            <a:r>
              <a:rPr lang="en">
                <a:solidFill>
                  <a:schemeClr val="dk1"/>
                </a:solidFill>
              </a:rPr>
              <a:t> across the board. Most correlation gaps fall below </a:t>
            </a:r>
            <a:r>
              <a:rPr b="1" lang="en">
                <a:solidFill>
                  <a:schemeClr val="dk1"/>
                </a:solidFill>
              </a:rPr>
              <a:t>0.10</a:t>
            </a:r>
            <a:r>
              <a:rPr lang="en">
                <a:solidFill>
                  <a:schemeClr val="dk1"/>
                </a:solidFill>
              </a:rPr>
              <a:t>, and many are essentially zero. This tells us that RTF is faithfully reproducing the underlying dependency structure between features—capturing not only the individual distributions but also how these numerical features co-vary.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a3c7eef0d9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a3c7eef0d9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a blended dataset that included original, CTGAN, and Realtabformer Data where there was roughly a ⅓ split of each within the dataset.</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model achieved an overall </a:t>
            </a:r>
            <a:r>
              <a:rPr b="1" lang="en">
                <a:solidFill>
                  <a:schemeClr val="dk1"/>
                </a:solidFill>
              </a:rPr>
              <a:t>accuracy of about 85%</a:t>
            </a:r>
            <a:r>
              <a:rPr lang="en">
                <a:solidFill>
                  <a:schemeClr val="dk1"/>
                </a:solidFill>
              </a:rPr>
              <a:t>, which tells us that the synthetic observations are still distinguishable from real ones with fairly high confidence. Looking more closely, Label 1—synthetic data—has a notably high recall of </a:t>
            </a:r>
            <a:r>
              <a:rPr b="1" lang="en">
                <a:solidFill>
                  <a:schemeClr val="dk1"/>
                </a:solidFill>
              </a:rPr>
              <a:t>0.91</a:t>
            </a:r>
            <a:r>
              <a:rPr lang="en">
                <a:solidFill>
                  <a:schemeClr val="dk1"/>
                </a:solidFill>
              </a:rPr>
              <a:t> and an F1-score of </a:t>
            </a:r>
            <a:r>
              <a:rPr b="1" lang="en">
                <a:solidFill>
                  <a:schemeClr val="dk1"/>
                </a:solidFill>
              </a:rPr>
              <a:t>0.89</a:t>
            </a:r>
            <a:r>
              <a:rPr lang="en">
                <a:solidFill>
                  <a:schemeClr val="dk1"/>
                </a:solidFill>
              </a:rPr>
              <a:t>, meaning the classifier is very good at correctly identifying synthetic samples. Label 0—real data—shows lower recall at </a:t>
            </a:r>
            <a:r>
              <a:rPr b="1" lang="en">
                <a:solidFill>
                  <a:schemeClr val="dk1"/>
                </a:solidFill>
              </a:rPr>
              <a:t>0.72</a:t>
            </a:r>
            <a:r>
              <a:rPr lang="en">
                <a:solidFill>
                  <a:schemeClr val="dk1"/>
                </a:solidFill>
              </a:rPr>
              <a:t>, suggesting it is making more mistakes when trying to classify real rows as real, not that surprising considering that only ⅓ of this specific data blend was not synthetic.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Overall, this result indicates that while both CTGAN and ReaLTabFormer generate data with strong marginal and relational fidelity, </a:t>
            </a:r>
            <a:r>
              <a:rPr b="1" lang="en">
                <a:solidFill>
                  <a:schemeClr val="dk1"/>
                </a:solidFill>
              </a:rPr>
              <a:t>there remain detectable patterns that separate synthetic records from real ones</a:t>
            </a:r>
            <a:r>
              <a:rPr lang="en">
                <a:solidFill>
                  <a:schemeClr val="dk1"/>
                </a:solidFill>
              </a:rPr>
              <a:t>. This doesn’t invalidate the utility of the synthetic data, but it highlights that neither model reaches full indistinguishability—and that ReaLTabFormer, despite being higher fidelity, may still produce subtle artifacts that a classifier can learn to pick up.”</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ace0b8ef8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aace0b8ef8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ba6f563c5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aba6f563c5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goal of the modeling pipeline is to evaluate how useful the synthetic data is for improving click-prediction performance. For both generators we use the same preprocessing, models, and mixing ratios for accurate comparison.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 with the 54,000 row pruned dataset split into 60% train, 20% validation and 20% test, and 60,000 synthetic samples per generator.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run two classifiers: an L1-regularized Logistic Regression, and XGBoost.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each model, we test three conditions: a real-only baseline, a synthetic-only baseline, and mixed datasets where we add synthetic data to the full </a:t>
            </a:r>
            <a:r>
              <a:rPr lang="en">
                <a:solidFill>
                  <a:schemeClr val="dk1"/>
                </a:solidFill>
              </a:rPr>
              <a:t>training data</a:t>
            </a:r>
            <a:r>
              <a:rPr lang="en">
                <a:solidFill>
                  <a:schemeClr val="dk1"/>
                </a:solidFill>
              </a:rPr>
              <a:t> at ratios from </a:t>
            </a:r>
            <a:r>
              <a:rPr b="1" lang="en">
                <a:solidFill>
                  <a:schemeClr val="dk1"/>
                </a:solidFill>
              </a:rPr>
              <a:t>0.10× up to 1.64×</a:t>
            </a:r>
            <a:r>
              <a:rPr lang="en">
                <a:solidFill>
                  <a:schemeClr val="dk1"/>
                </a:solidFill>
              </a:rPr>
              <a:t> the real training size.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Each ratio tells us </a:t>
            </a:r>
            <a:r>
              <a:rPr b="1" lang="en">
                <a:solidFill>
                  <a:schemeClr val="dk1"/>
                </a:solidFill>
              </a:rPr>
              <a:t>how much synthetic data we add relative to the real training data</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a ratio of </a:t>
            </a:r>
            <a:r>
              <a:rPr b="1" lang="en">
                <a:solidFill>
                  <a:schemeClr val="dk1"/>
                </a:solidFill>
              </a:rPr>
              <a:t>0.10×</a:t>
            </a:r>
            <a:r>
              <a:rPr lang="en">
                <a:solidFill>
                  <a:schemeClr val="dk1"/>
                </a:solidFill>
              </a:rPr>
              <a:t> means we add synthetic data equal to </a:t>
            </a:r>
            <a:r>
              <a:rPr b="1" lang="en">
                <a:solidFill>
                  <a:schemeClr val="dk1"/>
                </a:solidFill>
              </a:rPr>
              <a:t>10% of the real training 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use AUC and PR-AUC on the test set as our primary metrics for evaluation.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aba6f563c5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aba6f563c5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logistic regression preprocessing, we use StandardScaler for numerical features. This standardizes each variable to have mean zero and unit variance.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low-cardinality categorical features we use regular one-hot encoding.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i="1" lang="en">
                <a:solidFill>
                  <a:schemeClr val="dk1"/>
                </a:solidFill>
              </a:rPr>
              <a:t>high-cardinality</a:t>
            </a:r>
            <a:r>
              <a:rPr lang="en">
                <a:solidFill>
                  <a:schemeClr val="dk1"/>
                </a:solidFill>
              </a:rPr>
              <a:t> categorical features, one-hot encoding would lead to coefficient explosion. Instead, we use a robust target encoder.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Target encoding replaces each category with a single number: the smoothed average click-through rate for that category. To prevent overfitting, we add three stabilizing mechanisms.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First we require at least 20 unique value before we apply target encoding.</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second is smoothing: categories with a smaller number of </a:t>
            </a:r>
            <a:r>
              <a:rPr lang="en">
                <a:solidFill>
                  <a:schemeClr val="dk1"/>
                </a:solidFill>
              </a:rPr>
              <a:t>values</a:t>
            </a:r>
            <a:r>
              <a:rPr lang="en">
                <a:solidFill>
                  <a:schemeClr val="dk1"/>
                </a:solidFill>
              </a:rPr>
              <a:t> get pulled toward the global mean Click through rate, so that rarer categories don’t produce noisy estimates.</a:t>
            </a:r>
            <a:endParaRPr>
              <a:solidFill>
                <a:schemeClr val="dk1"/>
              </a:solidFill>
            </a:endParaRPr>
          </a:p>
          <a:p>
            <a:pPr indent="0" lvl="0" marL="0" rtl="0" algn="l">
              <a:lnSpc>
                <a:spcPct val="115000"/>
              </a:lnSpc>
              <a:spcBef>
                <a:spcPts val="1200"/>
              </a:spcBef>
              <a:spcAft>
                <a:spcPts val="1200"/>
              </a:spcAft>
              <a:buNone/>
            </a:pPr>
            <a:br>
              <a:rPr lang="en">
                <a:solidFill>
                  <a:schemeClr val="dk1"/>
                </a:solidFill>
              </a:rPr>
            </a:br>
            <a:r>
              <a:rPr lang="en">
                <a:solidFill>
                  <a:schemeClr val="dk1"/>
                </a:solidFill>
              </a:rPr>
              <a:t> And third, we clip values to plus or minus three standard deviations from the global mean to keep everything in a realistic probability range.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a6f563c5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aba6f563c5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the results of logistic regression, looking at RealTabFormer, the best result comes at the </a:t>
            </a:r>
            <a:r>
              <a:rPr b="1" lang="en">
                <a:solidFill>
                  <a:schemeClr val="dk1"/>
                </a:solidFill>
              </a:rPr>
              <a:t>0.36 ratio</a:t>
            </a:r>
            <a:r>
              <a:rPr lang="en">
                <a:solidFill>
                  <a:schemeClr val="dk1"/>
                </a:solidFill>
              </a:rPr>
              <a:t>, but it’s only a very small lift over real-only baseline.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Now on the CTGAN side, the story is different. The real-only model is actually the best performer and as we add CTGAN synthetic data, performance consistently </a:t>
            </a:r>
            <a:r>
              <a:rPr b="1" lang="en">
                <a:solidFill>
                  <a:schemeClr val="dk1"/>
                </a:solidFill>
              </a:rPr>
              <a:t>declines</a:t>
            </a:r>
            <a:r>
              <a:rPr lang="en">
                <a:solidFill>
                  <a:schemeClr val="dk1"/>
                </a:solidFill>
              </a:rPr>
              <a:t>. Furthermore, the synthetic-only CTGAN model performs the worst overall by a wide margin.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ba6f563c5_4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aba6f563c5_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Looking at the </a:t>
            </a:r>
            <a:r>
              <a:rPr lang="en">
                <a:solidFill>
                  <a:schemeClr val="dk1"/>
                </a:solidFill>
              </a:rPr>
              <a:t>coefficients</a:t>
            </a:r>
            <a:r>
              <a:rPr lang="en">
                <a:solidFill>
                  <a:schemeClr val="dk1"/>
                </a:solidFill>
              </a:rPr>
              <a:t> for the optimal logistic regression model, the biggest effect by far is </a:t>
            </a:r>
            <a:r>
              <a:rPr b="1" lang="en">
                <a:solidFill>
                  <a:schemeClr val="dk1"/>
                </a:solidFill>
              </a:rPr>
              <a:t>city</a:t>
            </a:r>
            <a:r>
              <a:rPr lang="en">
                <a:solidFill>
                  <a:schemeClr val="dk1"/>
                </a:solidFill>
              </a:rPr>
              <a:t>, So where a user lives is the single strongest driver of click behavior.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Next are </a:t>
            </a:r>
            <a:r>
              <a:rPr b="1" lang="en">
                <a:solidFill>
                  <a:schemeClr val="dk1"/>
                </a:solidFill>
              </a:rPr>
              <a:t>device_size</a:t>
            </a:r>
            <a:r>
              <a:rPr lang="en">
                <a:solidFill>
                  <a:schemeClr val="dk1"/>
                </a:solidFill>
              </a:rPr>
              <a:t> and </a:t>
            </a:r>
            <a:r>
              <a:rPr b="1" lang="en">
                <a:solidFill>
                  <a:schemeClr val="dk1"/>
                </a:solidFill>
              </a:rPr>
              <a:t>device_name</a:t>
            </a:r>
            <a:r>
              <a:rPr lang="en">
                <a:solidFill>
                  <a:schemeClr val="dk1"/>
                </a:solidFill>
              </a:rPr>
              <a:t>, meaning device characteristics strongly influence how likely someone is to click.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Slot ID</a:t>
            </a:r>
            <a:r>
              <a:rPr lang="en">
                <a:solidFill>
                  <a:schemeClr val="dk1"/>
                </a:solidFill>
              </a:rPr>
              <a:t> is also very predictive, which makes sense because different ad placements have very different baseline click through rates.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After that, we see the rest of the top features provide smaller but still meaningful effects.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ba6f563c5_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aba6f563c5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moving to the results of XGBoost, we see it performs better </a:t>
            </a:r>
            <a:r>
              <a:rPr lang="en">
                <a:solidFill>
                  <a:schemeClr val="dk1"/>
                </a:solidFill>
              </a:rPr>
              <a:t>across</a:t>
            </a:r>
            <a:r>
              <a:rPr lang="en">
                <a:solidFill>
                  <a:schemeClr val="dk1"/>
                </a:solidFill>
              </a:rPr>
              <a:t> the </a:t>
            </a:r>
            <a:r>
              <a:rPr lang="en">
                <a:solidFill>
                  <a:schemeClr val="dk1"/>
                </a:solidFill>
              </a:rPr>
              <a:t>board compared to logistic regression. B</a:t>
            </a:r>
            <a:r>
              <a:rPr lang="en">
                <a:solidFill>
                  <a:schemeClr val="dk1"/>
                </a:solidFill>
              </a:rPr>
              <a:t>oth generators clearly help the model, but </a:t>
            </a:r>
            <a:r>
              <a:rPr b="1" lang="en">
                <a:solidFill>
                  <a:schemeClr val="dk1"/>
                </a:solidFill>
              </a:rPr>
              <a:t>RealTabFormer provides a much stronger lift</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RealTabFormer, performance improves as we increase the synthetic ratio with an optimal precision at </a:t>
            </a:r>
            <a:r>
              <a:rPr b="1" lang="en">
                <a:solidFill>
                  <a:schemeClr val="dk1"/>
                </a:solidFill>
              </a:rPr>
              <a:t>1.38×</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CTGAN, It </a:t>
            </a:r>
            <a:r>
              <a:rPr lang="en">
                <a:solidFill>
                  <a:schemeClr val="dk1"/>
                </a:solidFill>
              </a:rPr>
              <a:t>achieves</a:t>
            </a:r>
            <a:r>
              <a:rPr lang="en">
                <a:solidFill>
                  <a:schemeClr val="dk1"/>
                </a:solidFill>
              </a:rPr>
              <a:t> its best precision around the </a:t>
            </a:r>
            <a:r>
              <a:rPr b="1" lang="en">
                <a:solidFill>
                  <a:schemeClr val="dk1"/>
                </a:solidFill>
              </a:rPr>
              <a:t>0.87×</a:t>
            </a:r>
            <a:r>
              <a:rPr lang="en">
                <a:solidFill>
                  <a:schemeClr val="dk1"/>
                </a:solidFill>
              </a:rPr>
              <a:t> ratio, and then gradually declines. Once </a:t>
            </a:r>
            <a:r>
              <a:rPr lang="en">
                <a:solidFill>
                  <a:schemeClr val="dk1"/>
                </a:solidFill>
              </a:rPr>
              <a:t>again, the</a:t>
            </a:r>
            <a:r>
              <a:rPr lang="en">
                <a:solidFill>
                  <a:schemeClr val="dk1"/>
                </a:solidFill>
              </a:rPr>
              <a:t> synthetic-only performance drops off much more sharply than RealTabFormer.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ba6f563c5_4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aba6f563c5_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Looking at the feature importance plots, on the left, we have </a:t>
            </a:r>
            <a:r>
              <a:rPr b="1" lang="en">
                <a:solidFill>
                  <a:schemeClr val="dk1"/>
                </a:solidFill>
              </a:rPr>
              <a:t>Gain importance</a:t>
            </a:r>
            <a:r>
              <a:rPr lang="en">
                <a:solidFill>
                  <a:schemeClr val="dk1"/>
                </a:solidFill>
              </a:rPr>
              <a:t>.</a:t>
            </a:r>
            <a:br>
              <a:rPr lang="en">
                <a:solidFill>
                  <a:schemeClr val="dk1"/>
                </a:solidFill>
              </a:rPr>
            </a:br>
            <a:r>
              <a:rPr lang="en">
                <a:solidFill>
                  <a:schemeClr val="dk1"/>
                </a:solidFill>
              </a:rPr>
              <a:t> This measures </a:t>
            </a:r>
            <a:r>
              <a:rPr b="1" lang="en">
                <a:solidFill>
                  <a:schemeClr val="dk1"/>
                </a:solidFill>
              </a:rPr>
              <a:t>how much each feature improves the model’s splitting decisions</a:t>
            </a:r>
            <a:r>
              <a:rPr lang="en">
                <a:solidFill>
                  <a:schemeClr val="dk1"/>
                </a:solidFill>
              </a:rPr>
              <a:t>.</a:t>
            </a:r>
            <a:br>
              <a:rPr lang="en">
                <a:solidFill>
                  <a:schemeClr val="dk1"/>
                </a:solidFill>
              </a:rPr>
            </a:br>
            <a:r>
              <a:rPr lang="en">
                <a:solidFill>
                  <a:schemeClr val="dk1"/>
                </a:solidFill>
              </a:rPr>
              <a:t> Here, the top </a:t>
            </a:r>
            <a:r>
              <a:rPr lang="en">
                <a:solidFill>
                  <a:schemeClr val="dk1"/>
                </a:solidFill>
              </a:rPr>
              <a:t>predictors</a:t>
            </a:r>
            <a:r>
              <a:rPr lang="en">
                <a:solidFill>
                  <a:schemeClr val="dk1"/>
                </a:solidFill>
              </a:rPr>
              <a:t> are all engagement related: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News category interest count</a:t>
            </a:r>
            <a:r>
              <a:rPr lang="en">
                <a:solidFill>
                  <a:schemeClr val="dk1"/>
                </a:solidFill>
              </a:rPr>
              <a:t>, </a:t>
            </a:r>
            <a:r>
              <a:rPr b="1" lang="en">
                <a:solidFill>
                  <a:schemeClr val="dk1"/>
                </a:solidFill>
              </a:rPr>
              <a:t>Refresh times</a:t>
            </a:r>
            <a:r>
              <a:rPr lang="en">
                <a:solidFill>
                  <a:schemeClr val="dk1"/>
                </a:solidFill>
              </a:rPr>
              <a:t>, and </a:t>
            </a:r>
            <a:r>
              <a:rPr b="1" lang="en">
                <a:solidFill>
                  <a:schemeClr val="dk1"/>
                </a:solidFill>
              </a:rPr>
              <a:t>Feed lifecycle</a:t>
            </a:r>
            <a:r>
              <a:rPr lang="en">
                <a:solidFill>
                  <a:schemeClr val="dk1"/>
                </a:solidFill>
              </a:rPr>
              <a:t> show that more engaged users are more likely to click.</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On the right, we have </a:t>
            </a:r>
            <a:r>
              <a:rPr b="1" lang="en">
                <a:solidFill>
                  <a:schemeClr val="dk1"/>
                </a:solidFill>
              </a:rPr>
              <a:t>Weight importance</a:t>
            </a:r>
            <a:r>
              <a:rPr lang="en">
                <a:solidFill>
                  <a:schemeClr val="dk1"/>
                </a:solidFill>
              </a:rPr>
              <a:t>, which measures </a:t>
            </a:r>
            <a:r>
              <a:rPr b="1" lang="en">
                <a:solidFill>
                  <a:schemeClr val="dk1"/>
                </a:solidFill>
              </a:rPr>
              <a:t>how often a feature is actually used in the trees</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br>
              <a:rPr lang="en">
                <a:solidFill>
                  <a:schemeClr val="dk1"/>
                </a:solidFill>
              </a:rPr>
            </a:br>
            <a:r>
              <a:rPr lang="en">
                <a:solidFill>
                  <a:schemeClr val="dk1"/>
                </a:solidFill>
              </a:rPr>
              <a:t> Here we see, </a:t>
            </a:r>
            <a:r>
              <a:rPr b="1" lang="en">
                <a:solidFill>
                  <a:schemeClr val="dk1"/>
                </a:solidFill>
              </a:rPr>
              <a:t>Device size, Device name, City, and Slot ID </a:t>
            </a:r>
            <a:r>
              <a:rPr lang="en">
                <a:solidFill>
                  <a:schemeClr val="dk1"/>
                </a:solidFill>
              </a:rPr>
              <a:t>show up a lot across trees because they help partition the data, even if each individual split is small.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also reflects the top features from logistic regression, showing how xgboost picks up both engagement features and device level segmentation.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7b7f249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ab7b7f249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REaLTabFormer often improved up to ~1.0×–1.3× synthetic</a:t>
            </a:r>
            <a:endParaRPr/>
          </a:p>
          <a:p>
            <a:pPr indent="0" lvl="0" marL="0" rtl="0" algn="l">
              <a:spcBef>
                <a:spcPts val="0"/>
              </a:spcBef>
              <a:spcAft>
                <a:spcPts val="0"/>
              </a:spcAft>
              <a:buNone/>
            </a:pPr>
            <a:r>
              <a:rPr lang="en"/>
              <a:t>– CTGAN peaked earlier (0.1×–0.87×), but still remained stable through ~1.0×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a6f563c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aba6f563c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Adjustment of hyperparameters may mean worse model - more overfit maybe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9d1dceb536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9d1dceb536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for your time!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9" name="Shape 9"/>
        <p:cNvGrpSpPr/>
        <p:nvPr/>
      </p:nvGrpSpPr>
      <p:grpSpPr>
        <a:xfrm>
          <a:off x="0" y="0"/>
          <a:ext cx="0" cy="0"/>
          <a:chOff x="0" y="0"/>
          <a:chExt cx="0" cy="0"/>
        </a:xfrm>
      </p:grpSpPr>
      <p:cxnSp>
        <p:nvCxnSpPr>
          <p:cNvPr id="10" name="Google Shape;10;p2"/>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11" name="Google Shape;11;p2"/>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12" name="Google Shape;12;p2"/>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3" name="Google Shape;13;p2"/>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4" name="Google Shape;14;p2"/>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 name="Google Shape;15;p2"/>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16" name="Shape 16"/>
        <p:cNvGrpSpPr/>
        <p:nvPr/>
      </p:nvGrpSpPr>
      <p:grpSpPr>
        <a:xfrm>
          <a:off x="0" y="0"/>
          <a:ext cx="0" cy="0"/>
          <a:chOff x="0" y="0"/>
          <a:chExt cx="0" cy="0"/>
        </a:xfrm>
      </p:grpSpPr>
      <p:sp>
        <p:nvSpPr>
          <p:cNvPr id="17" name="Google Shape;17;p3"/>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8" name="Google Shape;18;p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 name="Google Shape;19;p3"/>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20" name="Shape 20"/>
        <p:cNvGrpSpPr/>
        <p:nvPr/>
      </p:nvGrpSpPr>
      <p:grpSpPr>
        <a:xfrm>
          <a:off x="0" y="0"/>
          <a:ext cx="0" cy="0"/>
          <a:chOff x="0" y="0"/>
          <a:chExt cx="0" cy="0"/>
        </a:xfrm>
      </p:grpSpPr>
      <p:sp>
        <p:nvSpPr>
          <p:cNvPr id="21" name="Google Shape;21;p4"/>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 name="Google Shape;22;p4"/>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3" name="Google Shape;23;p4"/>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4" name="Google Shape;24;p4"/>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25" name="Google Shape;25;p4"/>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26" name="Google Shape;26;p4"/>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7" name="Google Shape;27;p4"/>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0" name="Google Shape;30;p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1" name="Google Shape;31;p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 name="Google Shape;32;p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 name="Google Shape;33;p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4" name="Google Shape;34;p5"/>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35" name="Google Shape;35;p5"/>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36" name="Google Shape;36;p5"/>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37" name="Google Shape;37;p5"/>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38" name="Google Shape;38;p5"/>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39" name="Google Shape;39;p5"/>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40" name="Shape 40"/>
        <p:cNvGrpSpPr/>
        <p:nvPr/>
      </p:nvGrpSpPr>
      <p:grpSpPr>
        <a:xfrm>
          <a:off x="0" y="0"/>
          <a:ext cx="0" cy="0"/>
          <a:chOff x="0" y="0"/>
          <a:chExt cx="0" cy="0"/>
        </a:xfrm>
      </p:grpSpPr>
      <p:sp>
        <p:nvSpPr>
          <p:cNvPr id="41" name="Google Shape;41;p6"/>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42" name="Google Shape;42;p6"/>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43" name="Google Shape;43;p6"/>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44" name="Google Shape;44;p6"/>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45" name="Google Shape;45;p6"/>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46" name="Shape 46"/>
        <p:cNvGrpSpPr/>
        <p:nvPr/>
      </p:nvGrpSpPr>
      <p:grpSpPr>
        <a:xfrm>
          <a:off x="0" y="0"/>
          <a:ext cx="0" cy="0"/>
          <a:chOff x="0" y="0"/>
          <a:chExt cx="0" cy="0"/>
        </a:xfrm>
      </p:grpSpPr>
      <p:sp>
        <p:nvSpPr>
          <p:cNvPr id="47" name="Google Shape;47;p7"/>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8" name="Google Shape;48;p7"/>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49" name="Google Shape;49;p7"/>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50" name="Google Shape;50;p7"/>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51" name="Google Shape;51;p7"/>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52" name="Shape 52"/>
        <p:cNvGrpSpPr/>
        <p:nvPr/>
      </p:nvGrpSpPr>
      <p:grpSpPr>
        <a:xfrm>
          <a:off x="0" y="0"/>
          <a:ext cx="0" cy="0"/>
          <a:chOff x="0" y="0"/>
          <a:chExt cx="0" cy="0"/>
        </a:xfrm>
      </p:grpSpPr>
      <p:sp>
        <p:nvSpPr>
          <p:cNvPr id="53" name="Google Shape;53;p8"/>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54" name="Google Shape;54;p8"/>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5" name="Google Shape;55;p8"/>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56" name="Google Shape;56;p8"/>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57" name="Google Shape;57;p8"/>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58" name="Google Shape;58;p8"/>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10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59" name="Google Shape;59;p8"/>
          <p:cNvCxnSpPr>
            <a:stCxn id="60" idx="2"/>
            <a:endCxn id="61"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61" name="Google Shape;61;p8"/>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2" name="Google Shape;62;p8"/>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0" name="Google Shape;60;p8"/>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63" name="Shape 63"/>
        <p:cNvGrpSpPr/>
        <p:nvPr/>
      </p:nvGrpSpPr>
      <p:grpSpPr>
        <a:xfrm>
          <a:off x="0" y="0"/>
          <a:ext cx="0" cy="0"/>
          <a:chOff x="0" y="0"/>
          <a:chExt cx="0" cy="0"/>
        </a:xfrm>
      </p:grpSpPr>
      <p:sp>
        <p:nvSpPr>
          <p:cNvPr id="64" name="Google Shape;64;p9"/>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5" name="Google Shape;65;p9"/>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66" name="Google Shape;66;p9"/>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7" name="Google Shape;67;p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8" name="Google Shape;68;p9"/>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69" name="Google Shape;69;p9"/>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0" name="Google Shape;70;p9"/>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1" name="Google Shape;71;p9"/>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2" name="Google Shape;72;p9"/>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3" name="Google Shape;73;p9"/>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4" name="Google Shape;74;p9"/>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5" name="Google Shape;75;p9"/>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6" name="Google Shape;76;p9"/>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7" name="Google Shape;77;p9"/>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8" name="Google Shape;78;p9"/>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10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79" name="Shape 79"/>
        <p:cNvGrpSpPr/>
        <p:nvPr/>
      </p:nvGrpSpPr>
      <p:grpSpPr>
        <a:xfrm>
          <a:off x="0" y="0"/>
          <a:ext cx="0" cy="0"/>
          <a:chOff x="0" y="0"/>
          <a:chExt cx="0" cy="0"/>
        </a:xfrm>
      </p:grpSpPr>
      <p:sp>
        <p:nvSpPr>
          <p:cNvPr id="80" name="Google Shape;80;p10"/>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0"/>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2" name="Google Shape;82;p1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3" name="Google Shape;83;p10"/>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4" name="Google Shape;84;p10"/>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5" name="Google Shape;85;p10"/>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 name="Google Shape;86;p10"/>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87" name="Google Shape;87;p10"/>
          <p:cNvCxnSpPr>
            <a:stCxn id="86" idx="7"/>
            <a:endCxn id="83"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10"/>
          <p:cNvCxnSpPr>
            <a:stCxn id="86"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89" name="Google Shape;89;p10"/>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90" name="Google Shape;90;p10"/>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91" name="Google Shape;91;p10"/>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92" name="Google Shape;92;p10"/>
          <p:cNvSpPr/>
          <p:nvPr>
            <p:ph idx="3" type="pic"/>
          </p:nvPr>
        </p:nvSpPr>
        <p:spPr>
          <a:xfrm>
            <a:off x="255950" y="2983150"/>
            <a:ext cx="1588200" cy="1904400"/>
          </a:xfrm>
          <a:prstGeom prst="rect">
            <a:avLst/>
          </a:prstGeom>
          <a:noFill/>
          <a:ln>
            <a:noFill/>
          </a:ln>
        </p:spPr>
      </p:sp>
      <p:sp>
        <p:nvSpPr>
          <p:cNvPr id="93" name="Google Shape;93;p10"/>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94" name="Google Shape;94;p10"/>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95" name="Google Shape;95;p10"/>
          <p:cNvSpPr/>
          <p:nvPr>
            <p:ph idx="6" type="pic"/>
          </p:nvPr>
        </p:nvSpPr>
        <p:spPr>
          <a:xfrm>
            <a:off x="4691200" y="2983950"/>
            <a:ext cx="1588200" cy="1904400"/>
          </a:xfrm>
          <a:prstGeom prst="rect">
            <a:avLst/>
          </a:prstGeom>
          <a:noFill/>
          <a:ln>
            <a:noFill/>
          </a:ln>
        </p:spPr>
      </p:sp>
      <p:sp>
        <p:nvSpPr>
          <p:cNvPr id="96" name="Google Shape;96;p10"/>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97" name="Google Shape;97;p10"/>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98" name="Shape 98"/>
        <p:cNvGrpSpPr/>
        <p:nvPr/>
      </p:nvGrpSpPr>
      <p:grpSpPr>
        <a:xfrm>
          <a:off x="0" y="0"/>
          <a:ext cx="0" cy="0"/>
          <a:chOff x="0" y="0"/>
          <a:chExt cx="0" cy="0"/>
        </a:xfrm>
      </p:grpSpPr>
      <p:sp>
        <p:nvSpPr>
          <p:cNvPr id="99" name="Google Shape;99;p11"/>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11"/>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1" name="Google Shape;101;p1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2" name="Google Shape;102;p11"/>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3" name="Google Shape;103;p11"/>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4" name="Google Shape;104;p11"/>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5" name="Google Shape;105;p11"/>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6" name="Google Shape;106;p11"/>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07" name="Google Shape;107;p11"/>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08" name="Shape 108"/>
        <p:cNvGrpSpPr/>
        <p:nvPr/>
      </p:nvGrpSpPr>
      <p:grpSpPr>
        <a:xfrm>
          <a:off x="0" y="0"/>
          <a:ext cx="0" cy="0"/>
          <a:chOff x="0" y="0"/>
          <a:chExt cx="0" cy="0"/>
        </a:xfrm>
      </p:grpSpPr>
      <p:sp>
        <p:nvSpPr>
          <p:cNvPr id="109" name="Google Shape;109;p1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0" name="Google Shape;110;p12"/>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1" name="Google Shape;111;p1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2" name="Google Shape;112;p12"/>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3" name="Google Shape;113;p12"/>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4" name="Google Shape;114;p12"/>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5" name="Google Shape;115;p12"/>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6" name="Google Shape;116;p12"/>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17" name="Google Shape;117;p12"/>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8" name="Google Shape;118;p12"/>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9" name="Google Shape;119;p12"/>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20" name="Google Shape;120;p12"/>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1" name="Google Shape;121;p12"/>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2" name="Google Shape;122;p12"/>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23" name="Shape 123"/>
        <p:cNvGrpSpPr/>
        <p:nvPr/>
      </p:nvGrpSpPr>
      <p:grpSpPr>
        <a:xfrm>
          <a:off x="0" y="0"/>
          <a:ext cx="0" cy="0"/>
          <a:chOff x="0" y="0"/>
          <a:chExt cx="0" cy="0"/>
        </a:xfrm>
      </p:grpSpPr>
      <p:sp>
        <p:nvSpPr>
          <p:cNvPr id="124" name="Google Shape;124;p1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5" name="Google Shape;125;p1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26" name="Google Shape;126;p13"/>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27" name="Google Shape;127;p13"/>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28" name="Google Shape;128;p13"/>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29" name="Google Shape;129;p13"/>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30" name="Google Shape;130;p13"/>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31" name="Google Shape;131;p13"/>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32" name="Google Shape;132;p13"/>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33" name="Shape 133"/>
        <p:cNvGrpSpPr/>
        <p:nvPr/>
      </p:nvGrpSpPr>
      <p:grpSpPr>
        <a:xfrm>
          <a:off x="0" y="0"/>
          <a:ext cx="0" cy="0"/>
          <a:chOff x="0" y="0"/>
          <a:chExt cx="0" cy="0"/>
        </a:xfrm>
      </p:grpSpPr>
      <p:sp>
        <p:nvSpPr>
          <p:cNvPr id="134" name="Google Shape;134;p1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5" name="Google Shape;135;p1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36" name="Google Shape;136;p1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37" name="Google Shape;137;p1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8" name="Google Shape;138;p1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9" name="Google Shape;139;p1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0" name="Google Shape;140;p1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1" name="Google Shape;141;p14"/>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2" name="Google Shape;142;p14"/>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3" name="Google Shape;143;p14"/>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4" name="Google Shape;144;p14"/>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5" name="Google Shape;145;p14"/>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6" name="Google Shape;146;p14"/>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47" name="Shape 147"/>
        <p:cNvGrpSpPr/>
        <p:nvPr/>
      </p:nvGrpSpPr>
      <p:grpSpPr>
        <a:xfrm>
          <a:off x="0" y="0"/>
          <a:ext cx="0" cy="0"/>
          <a:chOff x="0" y="0"/>
          <a:chExt cx="0" cy="0"/>
        </a:xfrm>
      </p:grpSpPr>
      <p:sp>
        <p:nvSpPr>
          <p:cNvPr id="148" name="Google Shape;148;p15"/>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5"/>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 name="Google Shape;150;p1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1" name="Google Shape;151;p15"/>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2" name="Google Shape;152;p15"/>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3" name="Google Shape;153;p15"/>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4" name="Google Shape;154;p15"/>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55" name="Google Shape;155;p15"/>
          <p:cNvCxnSpPr>
            <a:stCxn id="154" idx="7"/>
            <a:endCxn id="151"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15"/>
          <p:cNvCxnSpPr>
            <a:stCxn id="154"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57" name="Google Shape;157;p15"/>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58" name="Google Shape;158;p1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9" name="Google Shape;159;p15"/>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0" name="Google Shape;160;p15"/>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1" name="Google Shape;161;p15"/>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2" name="Google Shape;162;p15"/>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3" name="Google Shape;163;p15"/>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4" name="Google Shape;164;p15"/>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5" name="Google Shape;165;p15"/>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6" name="Google Shape;166;p15"/>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167" name="Shape 167"/>
        <p:cNvGrpSpPr/>
        <p:nvPr/>
      </p:nvGrpSpPr>
      <p:grpSpPr>
        <a:xfrm>
          <a:off x="0" y="0"/>
          <a:ext cx="0" cy="0"/>
          <a:chOff x="0" y="0"/>
          <a:chExt cx="0" cy="0"/>
        </a:xfrm>
      </p:grpSpPr>
      <p:sp>
        <p:nvSpPr>
          <p:cNvPr id="168" name="Google Shape;168;p1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 name="Google Shape;169;p16"/>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0" name="Google Shape;170;p16"/>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1" name="Google Shape;171;p16"/>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2" name="Google Shape;172;p16"/>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3" name="Google Shape;173;p16"/>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4" name="Google Shape;174;p16"/>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5" name="Google Shape;175;p16"/>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6" name="Google Shape;176;p16"/>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7" name="Google Shape;177;p16"/>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6"/>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9" name="Google Shape;179;p16"/>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0" name="Google Shape;180;p16"/>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1" name="Google Shape;181;p16"/>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2" name="Google Shape;182;p16"/>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83" name="Google Shape;183;p16"/>
          <p:cNvCxnSpPr>
            <a:stCxn id="182" idx="7"/>
            <a:endCxn id="179"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84" name="Google Shape;184;p16"/>
          <p:cNvCxnSpPr>
            <a:stCxn id="182"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16"/>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86" name="Google Shape;186;p16"/>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187" name="Shape 187"/>
        <p:cNvGrpSpPr/>
        <p:nvPr/>
      </p:nvGrpSpPr>
      <p:grpSpPr>
        <a:xfrm>
          <a:off x="0" y="0"/>
          <a:ext cx="0" cy="0"/>
          <a:chOff x="0" y="0"/>
          <a:chExt cx="0" cy="0"/>
        </a:xfrm>
      </p:grpSpPr>
      <p:sp>
        <p:nvSpPr>
          <p:cNvPr id="188" name="Google Shape;188;p1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189" name="Google Shape;189;p1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90" name="Google Shape;190;p17"/>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91" name="Google Shape;191;p17"/>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92" name="Google Shape;192;p17"/>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93" name="Google Shape;193;p17"/>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94" name="Google Shape;194;p17"/>
          <p:cNvSpPr/>
          <p:nvPr>
            <p:ph idx="5" type="pic"/>
          </p:nvPr>
        </p:nvSpPr>
        <p:spPr>
          <a:xfrm>
            <a:off x="256025" y="2987900"/>
            <a:ext cx="3176400" cy="1904400"/>
          </a:xfrm>
          <a:prstGeom prst="rect">
            <a:avLst/>
          </a:prstGeom>
          <a:noFill/>
          <a:ln>
            <a:noFill/>
          </a:ln>
        </p:spPr>
      </p:sp>
      <p:sp>
        <p:nvSpPr>
          <p:cNvPr id="195" name="Google Shape;195;p17"/>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196" name="Shape 196"/>
        <p:cNvGrpSpPr/>
        <p:nvPr/>
      </p:nvGrpSpPr>
      <p:grpSpPr>
        <a:xfrm>
          <a:off x="0" y="0"/>
          <a:ext cx="0" cy="0"/>
          <a:chOff x="0" y="0"/>
          <a:chExt cx="0" cy="0"/>
        </a:xfrm>
      </p:grpSpPr>
      <p:sp>
        <p:nvSpPr>
          <p:cNvPr id="197" name="Google Shape;197;p18"/>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8" name="Google Shape;198;p18"/>
          <p:cNvSpPr/>
          <p:nvPr>
            <p:ph idx="2" type="pic"/>
          </p:nvPr>
        </p:nvSpPr>
        <p:spPr>
          <a:xfrm>
            <a:off x="6565675" y="6375"/>
            <a:ext cx="2578200" cy="5143500"/>
          </a:xfrm>
          <a:prstGeom prst="rect">
            <a:avLst/>
          </a:prstGeom>
          <a:noFill/>
          <a:ln>
            <a:noFill/>
          </a:ln>
        </p:spPr>
      </p:sp>
      <p:sp>
        <p:nvSpPr>
          <p:cNvPr id="199" name="Google Shape;199;p18"/>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0" name="Google Shape;200;p18"/>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01" name="Google Shape;201;p18"/>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2" name="Google Shape;202;p18"/>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03" name="Google Shape;203;p18"/>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4" name="Google Shape;204;p18"/>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05" name="Shape 205"/>
        <p:cNvGrpSpPr/>
        <p:nvPr/>
      </p:nvGrpSpPr>
      <p:grpSpPr>
        <a:xfrm>
          <a:off x="0" y="0"/>
          <a:ext cx="0" cy="0"/>
          <a:chOff x="0" y="0"/>
          <a:chExt cx="0" cy="0"/>
        </a:xfrm>
      </p:grpSpPr>
      <p:sp>
        <p:nvSpPr>
          <p:cNvPr id="206" name="Google Shape;206;p1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7" name="Google Shape;207;p19"/>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8" name="Google Shape;208;p19"/>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9" name="Google Shape;209;p19"/>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0" name="Google Shape;210;p19"/>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1" name="Google Shape;211;p19"/>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2" name="Google Shape;212;p19"/>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3" name="Google Shape;213;p19"/>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4" name="Google Shape;214;p19"/>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5" name="Google Shape;215;p19"/>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6" name="Google Shape;216;p19"/>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217" name="Shape 217"/>
        <p:cNvGrpSpPr/>
        <p:nvPr/>
      </p:nvGrpSpPr>
      <p:grpSpPr>
        <a:xfrm>
          <a:off x="0" y="0"/>
          <a:ext cx="0" cy="0"/>
          <a:chOff x="0" y="0"/>
          <a:chExt cx="0" cy="0"/>
        </a:xfrm>
      </p:grpSpPr>
      <p:sp>
        <p:nvSpPr>
          <p:cNvPr id="218" name="Google Shape;218;p20"/>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19" name="Google Shape;219;p20"/>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0" name="Google Shape;220;p20"/>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1" name="Google Shape;221;p20"/>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2" name="Google Shape;222;p20"/>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3" name="Google Shape;223;p20"/>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4" name="Google Shape;224;p20"/>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5" name="Google Shape;225;p20"/>
          <p:cNvSpPr/>
          <p:nvPr>
            <p:ph idx="7" type="pic"/>
          </p:nvPr>
        </p:nvSpPr>
        <p:spPr>
          <a:xfrm>
            <a:off x="50" y="1278300"/>
            <a:ext cx="4285500" cy="3865200"/>
          </a:xfrm>
          <a:prstGeom prst="rect">
            <a:avLst/>
          </a:prstGeom>
          <a:noFill/>
          <a:ln>
            <a:noFill/>
          </a:ln>
        </p:spPr>
      </p:sp>
      <p:sp>
        <p:nvSpPr>
          <p:cNvPr id="226" name="Google Shape;226;p2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7" name="Google Shape;227;p20"/>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28" name="Google Shape;228;p20"/>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29" name="Google Shape;229;p20"/>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0" name="Google Shape;230;p20"/>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1" name="Google Shape;231;p20"/>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2" name="Google Shape;232;p20"/>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3" name="Google Shape;233;p20"/>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234" name="Shape 234"/>
        <p:cNvGrpSpPr/>
        <p:nvPr/>
      </p:nvGrpSpPr>
      <p:grpSpPr>
        <a:xfrm>
          <a:off x="0" y="0"/>
          <a:ext cx="0" cy="0"/>
          <a:chOff x="0" y="0"/>
          <a:chExt cx="0" cy="0"/>
        </a:xfrm>
      </p:grpSpPr>
      <p:sp>
        <p:nvSpPr>
          <p:cNvPr id="235" name="Google Shape;235;p21"/>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6" name="Google Shape;236;p21"/>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7" name="Google Shape;237;p21"/>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8" name="Google Shape;238;p21"/>
          <p:cNvSpPr/>
          <p:nvPr>
            <p:ph idx="4" type="pic"/>
          </p:nvPr>
        </p:nvSpPr>
        <p:spPr>
          <a:xfrm>
            <a:off x="256025" y="1597425"/>
            <a:ext cx="2661300" cy="1966200"/>
          </a:xfrm>
          <a:prstGeom prst="rect">
            <a:avLst/>
          </a:prstGeom>
          <a:noFill/>
          <a:ln>
            <a:noFill/>
          </a:ln>
        </p:spPr>
      </p:sp>
      <p:sp>
        <p:nvSpPr>
          <p:cNvPr id="239" name="Google Shape;239;p21"/>
          <p:cNvSpPr/>
          <p:nvPr>
            <p:ph idx="5" type="pic"/>
          </p:nvPr>
        </p:nvSpPr>
        <p:spPr>
          <a:xfrm>
            <a:off x="3241425" y="1597425"/>
            <a:ext cx="2661300" cy="1966200"/>
          </a:xfrm>
          <a:prstGeom prst="rect">
            <a:avLst/>
          </a:prstGeom>
          <a:noFill/>
          <a:ln>
            <a:noFill/>
          </a:ln>
        </p:spPr>
      </p:sp>
      <p:sp>
        <p:nvSpPr>
          <p:cNvPr id="240" name="Google Shape;240;p21"/>
          <p:cNvSpPr/>
          <p:nvPr>
            <p:ph idx="6" type="pic"/>
          </p:nvPr>
        </p:nvSpPr>
        <p:spPr>
          <a:xfrm>
            <a:off x="6226825" y="1588650"/>
            <a:ext cx="2661300" cy="1966200"/>
          </a:xfrm>
          <a:prstGeom prst="rect">
            <a:avLst/>
          </a:prstGeom>
          <a:noFill/>
          <a:ln>
            <a:noFill/>
          </a:ln>
        </p:spPr>
      </p:sp>
      <p:sp>
        <p:nvSpPr>
          <p:cNvPr id="241" name="Google Shape;241;p2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2" name="Google Shape;242;p21"/>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3" name="Google Shape;243;p21"/>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4" name="Google Shape;244;p21"/>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5" name="Google Shape;245;p21"/>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46" name="Shape 246"/>
        <p:cNvGrpSpPr/>
        <p:nvPr/>
      </p:nvGrpSpPr>
      <p:grpSpPr>
        <a:xfrm>
          <a:off x="0" y="0"/>
          <a:ext cx="0" cy="0"/>
          <a:chOff x="0" y="0"/>
          <a:chExt cx="0" cy="0"/>
        </a:xfrm>
      </p:grpSpPr>
      <p:sp>
        <p:nvSpPr>
          <p:cNvPr id="247" name="Google Shape;247;p22"/>
          <p:cNvSpPr/>
          <p:nvPr>
            <p:ph idx="2" type="pic"/>
          </p:nvPr>
        </p:nvSpPr>
        <p:spPr>
          <a:xfrm>
            <a:off x="2725025" y="1596075"/>
            <a:ext cx="1498500" cy="1498500"/>
          </a:xfrm>
          <a:prstGeom prst="rect">
            <a:avLst/>
          </a:prstGeom>
          <a:noFill/>
          <a:ln>
            <a:noFill/>
          </a:ln>
        </p:spPr>
      </p:sp>
      <p:sp>
        <p:nvSpPr>
          <p:cNvPr id="248" name="Google Shape;248;p22"/>
          <p:cNvSpPr/>
          <p:nvPr>
            <p:ph idx="3" type="pic"/>
          </p:nvPr>
        </p:nvSpPr>
        <p:spPr>
          <a:xfrm>
            <a:off x="7115925" y="1596075"/>
            <a:ext cx="1498500" cy="1498500"/>
          </a:xfrm>
          <a:prstGeom prst="rect">
            <a:avLst/>
          </a:prstGeom>
          <a:noFill/>
          <a:ln>
            <a:noFill/>
          </a:ln>
        </p:spPr>
      </p:sp>
      <p:sp>
        <p:nvSpPr>
          <p:cNvPr id="249" name="Google Shape;249;p22"/>
          <p:cNvSpPr/>
          <p:nvPr>
            <p:ph idx="4" type="pic"/>
          </p:nvPr>
        </p:nvSpPr>
        <p:spPr>
          <a:xfrm>
            <a:off x="4920475" y="1596075"/>
            <a:ext cx="1498500" cy="1498500"/>
          </a:xfrm>
          <a:prstGeom prst="ellipse">
            <a:avLst/>
          </a:prstGeom>
          <a:noFill/>
          <a:ln>
            <a:noFill/>
          </a:ln>
        </p:spPr>
      </p:sp>
      <p:sp>
        <p:nvSpPr>
          <p:cNvPr id="250" name="Google Shape;250;p22"/>
          <p:cNvSpPr/>
          <p:nvPr>
            <p:ph idx="5" type="pic"/>
          </p:nvPr>
        </p:nvSpPr>
        <p:spPr>
          <a:xfrm>
            <a:off x="529575" y="1596075"/>
            <a:ext cx="1498500" cy="1498500"/>
          </a:xfrm>
          <a:prstGeom prst="ellipse">
            <a:avLst/>
          </a:prstGeom>
          <a:noFill/>
          <a:ln>
            <a:noFill/>
          </a:ln>
        </p:spPr>
      </p:sp>
      <p:sp>
        <p:nvSpPr>
          <p:cNvPr id="251" name="Google Shape;251;p22"/>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2" name="Google Shape;252;p22"/>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3" name="Google Shape;253;p22"/>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4" name="Google Shape;254;p22"/>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5" name="Google Shape;255;p22"/>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6" name="Google Shape;256;p22"/>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7" name="Google Shape;257;p22"/>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8" name="Google Shape;258;p22"/>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9" name="Google Shape;259;p22"/>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60" name="Google Shape;260;p22"/>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261" name="Shape 261"/>
        <p:cNvGrpSpPr/>
        <p:nvPr/>
      </p:nvGrpSpPr>
      <p:grpSpPr>
        <a:xfrm>
          <a:off x="0" y="0"/>
          <a:ext cx="0" cy="0"/>
          <a:chOff x="0" y="0"/>
          <a:chExt cx="0" cy="0"/>
        </a:xfrm>
      </p:grpSpPr>
      <p:sp>
        <p:nvSpPr>
          <p:cNvPr id="262" name="Google Shape;262;p23"/>
          <p:cNvSpPr/>
          <p:nvPr>
            <p:ph idx="2" type="pic"/>
          </p:nvPr>
        </p:nvSpPr>
        <p:spPr>
          <a:xfrm>
            <a:off x="2725025" y="1596075"/>
            <a:ext cx="1498500" cy="1498500"/>
          </a:xfrm>
          <a:prstGeom prst="rect">
            <a:avLst/>
          </a:prstGeom>
          <a:noFill/>
          <a:ln>
            <a:noFill/>
          </a:ln>
        </p:spPr>
      </p:sp>
      <p:sp>
        <p:nvSpPr>
          <p:cNvPr id="263" name="Google Shape;263;p23"/>
          <p:cNvSpPr/>
          <p:nvPr>
            <p:ph idx="3" type="pic"/>
          </p:nvPr>
        </p:nvSpPr>
        <p:spPr>
          <a:xfrm>
            <a:off x="7115925" y="1596075"/>
            <a:ext cx="1498500" cy="1498500"/>
          </a:xfrm>
          <a:prstGeom prst="rect">
            <a:avLst/>
          </a:prstGeom>
          <a:noFill/>
          <a:ln>
            <a:noFill/>
          </a:ln>
        </p:spPr>
      </p:sp>
      <p:sp>
        <p:nvSpPr>
          <p:cNvPr id="264" name="Google Shape;264;p23"/>
          <p:cNvSpPr/>
          <p:nvPr>
            <p:ph idx="4" type="pic"/>
          </p:nvPr>
        </p:nvSpPr>
        <p:spPr>
          <a:xfrm>
            <a:off x="4920475" y="1596075"/>
            <a:ext cx="1498500" cy="1498500"/>
          </a:xfrm>
          <a:prstGeom prst="ellipse">
            <a:avLst/>
          </a:prstGeom>
          <a:noFill/>
          <a:ln>
            <a:noFill/>
          </a:ln>
        </p:spPr>
      </p:sp>
      <p:sp>
        <p:nvSpPr>
          <p:cNvPr id="265" name="Google Shape;265;p23"/>
          <p:cNvSpPr/>
          <p:nvPr>
            <p:ph idx="5" type="pic"/>
          </p:nvPr>
        </p:nvSpPr>
        <p:spPr>
          <a:xfrm>
            <a:off x="529575" y="1596075"/>
            <a:ext cx="1498500" cy="1498500"/>
          </a:xfrm>
          <a:prstGeom prst="ellipse">
            <a:avLst/>
          </a:prstGeom>
          <a:noFill/>
          <a:ln>
            <a:noFill/>
          </a:ln>
        </p:spPr>
      </p:sp>
      <p:sp>
        <p:nvSpPr>
          <p:cNvPr id="266" name="Google Shape;266;p23"/>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67" name="Google Shape;267;p23"/>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68" name="Google Shape;268;p23"/>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69" name="Google Shape;269;p23"/>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0" name="Google Shape;270;p23"/>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1" name="Google Shape;271;p23"/>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2" name="Google Shape;272;p23"/>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3" name="Google Shape;273;p23"/>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4" name="Google Shape;274;p23"/>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5" name="Google Shape;275;p23"/>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6" name="Google Shape;276;p23"/>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7" name="Google Shape;277;p23"/>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8" name="Google Shape;278;p23"/>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279" name="Google Shape;279;p23"/>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280" name="Shape 280"/>
        <p:cNvGrpSpPr/>
        <p:nvPr/>
      </p:nvGrpSpPr>
      <p:grpSpPr>
        <a:xfrm>
          <a:off x="0" y="0"/>
          <a:ext cx="0" cy="0"/>
          <a:chOff x="0" y="0"/>
          <a:chExt cx="0" cy="0"/>
        </a:xfrm>
      </p:grpSpPr>
      <p:sp>
        <p:nvSpPr>
          <p:cNvPr id="281" name="Google Shape;281;p24"/>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2" name="Google Shape;282;p24"/>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3" name="Google Shape;283;p24"/>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4" name="Google Shape;284;p24"/>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5" name="Google Shape;285;p24"/>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6" name="Google Shape;286;p24"/>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87" name="Google Shape;287;p24"/>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288" name="Google Shape;288;p24"/>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289" name="Google Shape;289;p24"/>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290" name="Google Shape;290;p24"/>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1" name="Shape 291"/>
        <p:cNvGrpSpPr/>
        <p:nvPr/>
      </p:nvGrpSpPr>
      <p:grpSpPr>
        <a:xfrm>
          <a:off x="0" y="0"/>
          <a:ext cx="0" cy="0"/>
          <a:chOff x="0" y="0"/>
          <a:chExt cx="0" cy="0"/>
        </a:xfrm>
      </p:grpSpPr>
      <p:sp>
        <p:nvSpPr>
          <p:cNvPr id="292" name="Google Shape;292;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3" name="Google Shape;293;p25"/>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4" name="Shape 294"/>
        <p:cNvGrpSpPr/>
        <p:nvPr/>
      </p:nvGrpSpPr>
      <p:grpSpPr>
        <a:xfrm>
          <a:off x="0" y="0"/>
          <a:ext cx="0" cy="0"/>
          <a:chOff x="0" y="0"/>
          <a:chExt cx="0" cy="0"/>
        </a:xfrm>
      </p:grpSpPr>
      <p:sp>
        <p:nvSpPr>
          <p:cNvPr id="295" name="Google Shape;295;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6" name="Shape 296"/>
        <p:cNvGrpSpPr/>
        <p:nvPr/>
      </p:nvGrpSpPr>
      <p:grpSpPr>
        <a:xfrm>
          <a:off x="0" y="0"/>
          <a:ext cx="0" cy="0"/>
          <a:chOff x="0" y="0"/>
          <a:chExt cx="0" cy="0"/>
        </a:xfrm>
      </p:grpSpPr>
      <p:sp>
        <p:nvSpPr>
          <p:cNvPr id="297" name="Google Shape;29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98" name="Google Shape;298;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99" name="Shape 299"/>
        <p:cNvGrpSpPr/>
        <p:nvPr/>
      </p:nvGrpSpPr>
      <p:grpSpPr>
        <a:xfrm>
          <a:off x="0" y="0"/>
          <a:ext cx="0" cy="0"/>
          <a:chOff x="0" y="0"/>
          <a:chExt cx="0" cy="0"/>
        </a:xfrm>
      </p:grpSpPr>
      <p:sp>
        <p:nvSpPr>
          <p:cNvPr id="300" name="Google Shape;30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01" name="Google Shape;301;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2" name="Google Shape;302;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3" name="Shape 303"/>
        <p:cNvGrpSpPr/>
        <p:nvPr/>
      </p:nvGrpSpPr>
      <p:grpSpPr>
        <a:xfrm>
          <a:off x="0" y="0"/>
          <a:ext cx="0" cy="0"/>
          <a:chOff x="0" y="0"/>
          <a:chExt cx="0" cy="0"/>
        </a:xfrm>
      </p:grpSpPr>
      <p:sp>
        <p:nvSpPr>
          <p:cNvPr id="304" name="Google Shape;30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5" name="Shape 305"/>
        <p:cNvGrpSpPr/>
        <p:nvPr/>
      </p:nvGrpSpPr>
      <p:grpSpPr>
        <a:xfrm>
          <a:off x="0" y="0"/>
          <a:ext cx="0" cy="0"/>
          <a:chOff x="0" y="0"/>
          <a:chExt cx="0" cy="0"/>
        </a:xfrm>
      </p:grpSpPr>
      <p:sp>
        <p:nvSpPr>
          <p:cNvPr id="306" name="Google Shape;306;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7" name="Google Shape;307;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08" name="Shape 308"/>
        <p:cNvGrpSpPr/>
        <p:nvPr/>
      </p:nvGrpSpPr>
      <p:grpSpPr>
        <a:xfrm>
          <a:off x="0" y="0"/>
          <a:ext cx="0" cy="0"/>
          <a:chOff x="0" y="0"/>
          <a:chExt cx="0" cy="0"/>
        </a:xfrm>
      </p:grpSpPr>
      <p:sp>
        <p:nvSpPr>
          <p:cNvPr id="309" name="Google Shape;309;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0" name="Shape 310"/>
        <p:cNvGrpSpPr/>
        <p:nvPr/>
      </p:nvGrpSpPr>
      <p:grpSpPr>
        <a:xfrm>
          <a:off x="0" y="0"/>
          <a:ext cx="0" cy="0"/>
          <a:chOff x="0" y="0"/>
          <a:chExt cx="0" cy="0"/>
        </a:xfrm>
      </p:grpSpPr>
      <p:sp>
        <p:nvSpPr>
          <p:cNvPr id="311" name="Google Shape;311;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12" name="Google Shape;312;p32"/>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3" name="Google Shape;313;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4" name="Shape 314"/>
        <p:cNvGrpSpPr/>
        <p:nvPr/>
      </p:nvGrpSpPr>
      <p:grpSpPr>
        <a:xfrm>
          <a:off x="0" y="0"/>
          <a:ext cx="0" cy="0"/>
          <a:chOff x="0" y="0"/>
          <a:chExt cx="0" cy="0"/>
        </a:xfrm>
      </p:grpSpPr>
      <p:sp>
        <p:nvSpPr>
          <p:cNvPr id="315" name="Google Shape;315;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6" name="Shape 316"/>
        <p:cNvGrpSpPr/>
        <p:nvPr/>
      </p:nvGrpSpPr>
      <p:grpSpPr>
        <a:xfrm>
          <a:off x="0" y="0"/>
          <a:ext cx="0" cy="0"/>
          <a:chOff x="0" y="0"/>
          <a:chExt cx="0" cy="0"/>
        </a:xfrm>
      </p:grpSpPr>
      <p:sp>
        <p:nvSpPr>
          <p:cNvPr id="317" name="Google Shape;317;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8" name="Google Shape;318;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9" name="Shape 319"/>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0" name="Shape 320"/>
        <p:cNvGrpSpPr/>
        <p:nvPr/>
      </p:nvGrpSpPr>
      <p:grpSpPr>
        <a:xfrm>
          <a:off x="0" y="0"/>
          <a:ext cx="0" cy="0"/>
          <a:chOff x="0" y="0"/>
          <a:chExt cx="0" cy="0"/>
        </a:xfrm>
      </p:grpSpPr>
      <p:sp>
        <p:nvSpPr>
          <p:cNvPr id="321" name="Google Shape;321;p3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22" name="Google Shape;322;p36"/>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36"/>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36"/>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36"/>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36"/>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36"/>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28" name="Shape 328"/>
        <p:cNvGrpSpPr/>
        <p:nvPr/>
      </p:nvGrpSpPr>
      <p:grpSpPr>
        <a:xfrm>
          <a:off x="0" y="0"/>
          <a:ext cx="0" cy="0"/>
          <a:chOff x="0" y="0"/>
          <a:chExt cx="0" cy="0"/>
        </a:xfrm>
      </p:grpSpPr>
      <p:sp>
        <p:nvSpPr>
          <p:cNvPr id="329" name="Google Shape;32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30" name="Google Shape;330;p3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1" name="Google Shape;331;p3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2" name="Shape 332"/>
        <p:cNvGrpSpPr/>
        <p:nvPr/>
      </p:nvGrpSpPr>
      <p:grpSpPr>
        <a:xfrm>
          <a:off x="0" y="0"/>
          <a:ext cx="0" cy="0"/>
          <a:chOff x="0" y="0"/>
          <a:chExt cx="0" cy="0"/>
        </a:xfrm>
      </p:grpSpPr>
      <p:sp>
        <p:nvSpPr>
          <p:cNvPr id="333" name="Google Shape;333;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4" name="Google Shape;334;p3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5" name="Google Shape;335;p3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6" name="Google Shape;336;p38"/>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38"/>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38" name="Shape 338"/>
        <p:cNvGrpSpPr/>
        <p:nvPr/>
      </p:nvGrpSpPr>
      <p:grpSpPr>
        <a:xfrm>
          <a:off x="0" y="0"/>
          <a:ext cx="0" cy="0"/>
          <a:chOff x="0" y="0"/>
          <a:chExt cx="0" cy="0"/>
        </a:xfrm>
      </p:grpSpPr>
      <p:sp>
        <p:nvSpPr>
          <p:cNvPr id="339" name="Google Shape;339;p3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0" name="Google Shape;340;p3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1" name="Google Shape;341;p3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2" name="Google Shape;342;p39"/>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3" name="Google Shape;343;p39"/>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4" name="Google Shape;344;p39"/>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39"/>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6" name="Shape 346"/>
        <p:cNvGrpSpPr/>
        <p:nvPr/>
      </p:nvGrpSpPr>
      <p:grpSpPr>
        <a:xfrm>
          <a:off x="0" y="0"/>
          <a:ext cx="0" cy="0"/>
          <a:chOff x="0" y="0"/>
          <a:chExt cx="0" cy="0"/>
        </a:xfrm>
      </p:grpSpPr>
      <p:sp>
        <p:nvSpPr>
          <p:cNvPr id="347" name="Google Shape;347;p4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8" name="Google Shape;348;p4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9" name="Google Shape;349;p40"/>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50" name="Google Shape;350;p4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51" name="Google Shape;351;p4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2" name="Google Shape;352;p40"/>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3" name="Google Shape;353;p40"/>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40"/>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40"/>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6" name="Shape 356"/>
        <p:cNvGrpSpPr/>
        <p:nvPr/>
      </p:nvGrpSpPr>
      <p:grpSpPr>
        <a:xfrm>
          <a:off x="0" y="0"/>
          <a:ext cx="0" cy="0"/>
          <a:chOff x="0" y="0"/>
          <a:chExt cx="0" cy="0"/>
        </a:xfrm>
      </p:grpSpPr>
      <p:sp>
        <p:nvSpPr>
          <p:cNvPr id="357" name="Google Shape;357;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58" name="Google Shape;358;p4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59" name="Shape 359"/>
        <p:cNvGrpSpPr/>
        <p:nvPr/>
      </p:nvGrpSpPr>
      <p:grpSpPr>
        <a:xfrm>
          <a:off x="0" y="0"/>
          <a:ext cx="0" cy="0"/>
          <a:chOff x="0" y="0"/>
          <a:chExt cx="0" cy="0"/>
        </a:xfrm>
      </p:grpSpPr>
      <p:sp>
        <p:nvSpPr>
          <p:cNvPr id="360" name="Google Shape;360;p4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1" name="Google Shape;361;p42"/>
          <p:cNvSpPr/>
          <p:nvPr>
            <p:ph idx="2" type="pic"/>
          </p:nvPr>
        </p:nvSpPr>
        <p:spPr>
          <a:xfrm>
            <a:off x="4804825" y="1133300"/>
            <a:ext cx="4027500" cy="2392800"/>
          </a:xfrm>
          <a:prstGeom prst="rect">
            <a:avLst/>
          </a:prstGeom>
          <a:noFill/>
          <a:ln>
            <a:noFill/>
          </a:ln>
        </p:spPr>
      </p:sp>
      <p:sp>
        <p:nvSpPr>
          <p:cNvPr id="362" name="Google Shape;362;p42"/>
          <p:cNvSpPr/>
          <p:nvPr>
            <p:ph idx="3" type="pic"/>
          </p:nvPr>
        </p:nvSpPr>
        <p:spPr>
          <a:xfrm>
            <a:off x="311725" y="1133300"/>
            <a:ext cx="4027500" cy="2392800"/>
          </a:xfrm>
          <a:prstGeom prst="rect">
            <a:avLst/>
          </a:prstGeom>
          <a:noFill/>
          <a:ln>
            <a:noFill/>
          </a:ln>
        </p:spPr>
      </p:sp>
      <p:sp>
        <p:nvSpPr>
          <p:cNvPr id="363" name="Google Shape;363;p4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4" name="Google Shape;36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65" name="Google Shape;365;p42"/>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6" name="Google Shape;366;p42"/>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7" name="Shape 367"/>
        <p:cNvGrpSpPr/>
        <p:nvPr/>
      </p:nvGrpSpPr>
      <p:grpSpPr>
        <a:xfrm>
          <a:off x="0" y="0"/>
          <a:ext cx="0" cy="0"/>
          <a:chOff x="0" y="0"/>
          <a:chExt cx="0" cy="0"/>
        </a:xfrm>
      </p:grpSpPr>
      <p:sp>
        <p:nvSpPr>
          <p:cNvPr id="368" name="Google Shape;368;p4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9" name="Google Shape;369;p43"/>
          <p:cNvSpPr/>
          <p:nvPr>
            <p:ph idx="2" type="pic"/>
          </p:nvPr>
        </p:nvSpPr>
        <p:spPr>
          <a:xfrm>
            <a:off x="6205225" y="1128325"/>
            <a:ext cx="2627100" cy="2273100"/>
          </a:xfrm>
          <a:prstGeom prst="rect">
            <a:avLst/>
          </a:prstGeom>
          <a:noFill/>
          <a:ln>
            <a:noFill/>
          </a:ln>
        </p:spPr>
      </p:sp>
      <p:sp>
        <p:nvSpPr>
          <p:cNvPr id="370" name="Google Shape;370;p43"/>
          <p:cNvSpPr/>
          <p:nvPr>
            <p:ph idx="3" type="pic"/>
          </p:nvPr>
        </p:nvSpPr>
        <p:spPr>
          <a:xfrm>
            <a:off x="311725" y="1128325"/>
            <a:ext cx="2627100" cy="2273100"/>
          </a:xfrm>
          <a:prstGeom prst="rect">
            <a:avLst/>
          </a:prstGeom>
          <a:noFill/>
          <a:ln>
            <a:noFill/>
          </a:ln>
        </p:spPr>
      </p:sp>
      <p:sp>
        <p:nvSpPr>
          <p:cNvPr id="371" name="Google Shape;371;p4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2" name="Google Shape;372;p43"/>
          <p:cNvSpPr/>
          <p:nvPr>
            <p:ph idx="5" type="pic"/>
          </p:nvPr>
        </p:nvSpPr>
        <p:spPr>
          <a:xfrm>
            <a:off x="3255250" y="1128325"/>
            <a:ext cx="2627100" cy="2273100"/>
          </a:xfrm>
          <a:prstGeom prst="rect">
            <a:avLst/>
          </a:prstGeom>
          <a:noFill/>
          <a:ln>
            <a:noFill/>
          </a:ln>
        </p:spPr>
      </p:sp>
      <p:sp>
        <p:nvSpPr>
          <p:cNvPr id="373" name="Google Shape;373;p43"/>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5" name="Google Shape;375;p43"/>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6" name="Google Shape;376;p43"/>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43"/>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78" name="Shape 378"/>
        <p:cNvGrpSpPr/>
        <p:nvPr/>
      </p:nvGrpSpPr>
      <p:grpSpPr>
        <a:xfrm>
          <a:off x="0" y="0"/>
          <a:ext cx="0" cy="0"/>
          <a:chOff x="0" y="0"/>
          <a:chExt cx="0" cy="0"/>
        </a:xfrm>
      </p:grpSpPr>
      <p:sp>
        <p:nvSpPr>
          <p:cNvPr id="379" name="Google Shape;379;p4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0" name="Shape 380"/>
        <p:cNvGrpSpPr/>
        <p:nvPr/>
      </p:nvGrpSpPr>
      <p:grpSpPr>
        <a:xfrm>
          <a:off x="0" y="0"/>
          <a:ext cx="0" cy="0"/>
          <a:chOff x="0" y="0"/>
          <a:chExt cx="0" cy="0"/>
        </a:xfrm>
      </p:grpSpPr>
      <p:sp>
        <p:nvSpPr>
          <p:cNvPr id="381" name="Google Shape;381;p45"/>
          <p:cNvSpPr/>
          <p:nvPr>
            <p:ph idx="2" type="pic"/>
          </p:nvPr>
        </p:nvSpPr>
        <p:spPr>
          <a:xfrm>
            <a:off x="3389600" y="118913"/>
            <a:ext cx="1643700" cy="1535100"/>
          </a:xfrm>
          <a:prstGeom prst="rect">
            <a:avLst/>
          </a:prstGeom>
          <a:noFill/>
          <a:ln>
            <a:noFill/>
          </a:ln>
        </p:spPr>
      </p:sp>
      <p:sp>
        <p:nvSpPr>
          <p:cNvPr id="382" name="Google Shape;382;p45"/>
          <p:cNvSpPr/>
          <p:nvPr>
            <p:ph idx="3" type="pic"/>
          </p:nvPr>
        </p:nvSpPr>
        <p:spPr>
          <a:xfrm>
            <a:off x="5195935" y="118913"/>
            <a:ext cx="1643700" cy="1535100"/>
          </a:xfrm>
          <a:prstGeom prst="rect">
            <a:avLst/>
          </a:prstGeom>
          <a:noFill/>
          <a:ln>
            <a:noFill/>
          </a:ln>
        </p:spPr>
      </p:sp>
      <p:sp>
        <p:nvSpPr>
          <p:cNvPr id="383" name="Google Shape;383;p45"/>
          <p:cNvSpPr/>
          <p:nvPr>
            <p:ph idx="4" type="pic"/>
          </p:nvPr>
        </p:nvSpPr>
        <p:spPr>
          <a:xfrm>
            <a:off x="7002270" y="118913"/>
            <a:ext cx="1643700" cy="1535100"/>
          </a:xfrm>
          <a:prstGeom prst="rect">
            <a:avLst/>
          </a:prstGeom>
          <a:noFill/>
          <a:ln>
            <a:noFill/>
          </a:ln>
        </p:spPr>
      </p:sp>
      <p:sp>
        <p:nvSpPr>
          <p:cNvPr id="384" name="Google Shape;384;p45"/>
          <p:cNvSpPr/>
          <p:nvPr>
            <p:ph idx="5" type="pic"/>
          </p:nvPr>
        </p:nvSpPr>
        <p:spPr>
          <a:xfrm>
            <a:off x="3389588" y="1804212"/>
            <a:ext cx="1643700" cy="1535100"/>
          </a:xfrm>
          <a:prstGeom prst="rect">
            <a:avLst/>
          </a:prstGeom>
          <a:noFill/>
          <a:ln>
            <a:noFill/>
          </a:ln>
        </p:spPr>
      </p:sp>
      <p:sp>
        <p:nvSpPr>
          <p:cNvPr id="385" name="Google Shape;385;p45"/>
          <p:cNvSpPr/>
          <p:nvPr>
            <p:ph idx="6" type="pic"/>
          </p:nvPr>
        </p:nvSpPr>
        <p:spPr>
          <a:xfrm>
            <a:off x="5195922" y="1804212"/>
            <a:ext cx="1643700" cy="1535100"/>
          </a:xfrm>
          <a:prstGeom prst="rect">
            <a:avLst/>
          </a:prstGeom>
          <a:noFill/>
          <a:ln>
            <a:noFill/>
          </a:ln>
        </p:spPr>
      </p:sp>
      <p:sp>
        <p:nvSpPr>
          <p:cNvPr id="386" name="Google Shape;386;p45"/>
          <p:cNvSpPr/>
          <p:nvPr>
            <p:ph idx="7" type="pic"/>
          </p:nvPr>
        </p:nvSpPr>
        <p:spPr>
          <a:xfrm>
            <a:off x="7002257" y="1804212"/>
            <a:ext cx="1643700" cy="1535100"/>
          </a:xfrm>
          <a:prstGeom prst="rect">
            <a:avLst/>
          </a:prstGeom>
          <a:noFill/>
          <a:ln>
            <a:noFill/>
          </a:ln>
        </p:spPr>
      </p:sp>
      <p:sp>
        <p:nvSpPr>
          <p:cNvPr id="387" name="Google Shape;387;p4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8" name="Google Shape;388;p45"/>
          <p:cNvSpPr/>
          <p:nvPr>
            <p:ph idx="8" type="pic"/>
          </p:nvPr>
        </p:nvSpPr>
        <p:spPr>
          <a:xfrm>
            <a:off x="3389588" y="3489487"/>
            <a:ext cx="1643700" cy="1535100"/>
          </a:xfrm>
          <a:prstGeom prst="rect">
            <a:avLst/>
          </a:prstGeom>
          <a:noFill/>
          <a:ln>
            <a:noFill/>
          </a:ln>
        </p:spPr>
      </p:sp>
      <p:sp>
        <p:nvSpPr>
          <p:cNvPr id="389" name="Google Shape;389;p45"/>
          <p:cNvSpPr/>
          <p:nvPr>
            <p:ph idx="9" type="pic"/>
          </p:nvPr>
        </p:nvSpPr>
        <p:spPr>
          <a:xfrm>
            <a:off x="5195922" y="3489487"/>
            <a:ext cx="1643700" cy="1535100"/>
          </a:xfrm>
          <a:prstGeom prst="rect">
            <a:avLst/>
          </a:prstGeom>
          <a:noFill/>
          <a:ln>
            <a:noFill/>
          </a:ln>
        </p:spPr>
      </p:sp>
      <p:sp>
        <p:nvSpPr>
          <p:cNvPr id="390" name="Google Shape;390;p4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98450" lvl="0" marL="4572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1pPr>
            <a:lvl2pPr indent="-298450" lvl="1" marL="9144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2pPr>
            <a:lvl3pPr indent="-298450" lvl="2" marL="13716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3pPr>
            <a:lvl4pPr indent="-298450" lvl="3" marL="18288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4pPr>
            <a:lvl5pPr indent="-298450" lvl="4" marL="22860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5pPr>
            <a:lvl6pPr indent="-298450" lvl="5" marL="27432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6pPr>
            <a:lvl7pPr indent="-298450" lvl="6" marL="32004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7pPr>
            <a:lvl8pPr indent="-298450" lvl="7" marL="36576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8pPr>
            <a:lvl9pPr indent="-298450" lvl="8" marL="4114800">
              <a:lnSpc>
                <a:spcPct val="115000"/>
              </a:lnSpc>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9pPr>
          </a:lstStyle>
          <a:p/>
        </p:txBody>
      </p:sp>
      <p:sp>
        <p:nvSpPr>
          <p:cNvPr id="7" name="Google Shape;7;p1"/>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8" name="Google Shape;8;p1"/>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1pPr>
            <a:lvl2pPr indent="-298450" lvl="1" marL="9144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2pPr>
            <a:lvl3pPr indent="-298450" lvl="2" marL="13716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3pPr>
            <a:lvl4pPr indent="-298450" lvl="3" marL="18288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4pPr>
            <a:lvl5pPr indent="-298450" lvl="4" marL="22860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5pPr>
            <a:lvl6pPr indent="-298450" lvl="5" marL="27432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6pPr>
            <a:lvl7pPr indent="-298450" lvl="6" marL="32004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7pPr>
            <a:lvl8pPr indent="-298450" lvl="7" marL="36576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8pPr>
            <a:lvl9pPr indent="-298450" lvl="8" marL="4114800">
              <a:spcBef>
                <a:spcPts val="0"/>
              </a:spcBef>
              <a:spcAft>
                <a:spcPts val="0"/>
              </a:spcAft>
              <a:buClr>
                <a:schemeClr val="lt2"/>
              </a:buClr>
              <a:buSzPts val="1100"/>
              <a:buFont typeface="Montserrat"/>
              <a:buChar char="■"/>
              <a:defRPr sz="11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Blue sky and fluffy clouds" id="395" name="Google Shape;395;p46"/>
          <p:cNvPicPr preferRelativeResize="0"/>
          <p:nvPr/>
        </p:nvPicPr>
        <p:blipFill rotWithShape="1">
          <a:blip r:embed="rId3">
            <a:alphaModFix/>
          </a:blip>
          <a:srcRect b="-12278" l="22480" r="30409" t="-22801"/>
          <a:stretch/>
        </p:blipFill>
        <p:spPr>
          <a:xfrm rot="-5400000">
            <a:off x="4693500" y="695025"/>
            <a:ext cx="3054300" cy="5846700"/>
          </a:xfrm>
          <a:prstGeom prst="round2SameRect">
            <a:avLst>
              <a:gd fmla="val 50000" name="adj1"/>
              <a:gd fmla="val 0" name="adj2"/>
            </a:avLst>
          </a:prstGeom>
          <a:noFill/>
          <a:ln>
            <a:noFill/>
          </a:ln>
        </p:spPr>
      </p:pic>
      <p:sp>
        <p:nvSpPr>
          <p:cNvPr id="396" name="Google Shape;396;p46"/>
          <p:cNvSpPr txBox="1"/>
          <p:nvPr>
            <p:ph type="title"/>
          </p:nvPr>
        </p:nvSpPr>
        <p:spPr>
          <a:xfrm>
            <a:off x="256050" y="3313175"/>
            <a:ext cx="2352600" cy="23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sz="1500"/>
              <a:t>STATS 414: Generative AI</a:t>
            </a:r>
            <a:endParaRPr i="0" sz="1500"/>
          </a:p>
        </p:txBody>
      </p:sp>
      <p:sp>
        <p:nvSpPr>
          <p:cNvPr id="397" name="Google Shape;397;p46"/>
          <p:cNvSpPr txBox="1"/>
          <p:nvPr>
            <p:ph idx="4" type="title"/>
          </p:nvPr>
        </p:nvSpPr>
        <p:spPr>
          <a:xfrm>
            <a:off x="256050" y="531725"/>
            <a:ext cx="863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0" lang="en" sz="3500"/>
              <a:t>Predicting Ad Clickthrough-Rate (CTR) </a:t>
            </a:r>
            <a:endParaRPr i="0" sz="3500"/>
          </a:p>
          <a:p>
            <a:pPr indent="0" lvl="0" marL="0" rtl="0" algn="l">
              <a:spcBef>
                <a:spcPts val="0"/>
              </a:spcBef>
              <a:spcAft>
                <a:spcPts val="0"/>
              </a:spcAft>
              <a:buNone/>
            </a:pPr>
            <a:r>
              <a:rPr lang="en" sz="3000">
                <a:latin typeface="Source Serif 4"/>
                <a:ea typeface="Source Serif 4"/>
                <a:cs typeface="Source Serif 4"/>
                <a:sym typeface="Source Serif 4"/>
              </a:rPr>
              <a:t>on real and synthesized ads data</a:t>
            </a:r>
            <a:endParaRPr sz="3000">
              <a:latin typeface="Source Serif 4"/>
              <a:ea typeface="Source Serif 4"/>
              <a:cs typeface="Source Serif 4"/>
              <a:sym typeface="Source Serif 4"/>
            </a:endParaRPr>
          </a:p>
        </p:txBody>
      </p:sp>
      <p:sp>
        <p:nvSpPr>
          <p:cNvPr id="398" name="Google Shape;398;p46"/>
          <p:cNvSpPr txBox="1"/>
          <p:nvPr>
            <p:ph idx="3" type="title"/>
          </p:nvPr>
        </p:nvSpPr>
        <p:spPr>
          <a:xfrm>
            <a:off x="256050" y="3800525"/>
            <a:ext cx="3312300" cy="1027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sz="1500"/>
              <a:t>Setara Nusratty, </a:t>
            </a:r>
            <a:endParaRPr i="0" sz="1500"/>
          </a:p>
          <a:p>
            <a:pPr indent="0" lvl="0" marL="0" rtl="0" algn="l">
              <a:spcBef>
                <a:spcPts val="0"/>
              </a:spcBef>
              <a:spcAft>
                <a:spcPts val="0"/>
              </a:spcAft>
              <a:buNone/>
            </a:pPr>
            <a:r>
              <a:rPr i="0" lang="en" sz="1500"/>
              <a:t>Nils Berzins, </a:t>
            </a:r>
            <a:endParaRPr i="0" sz="1500"/>
          </a:p>
          <a:p>
            <a:pPr indent="0" lvl="0" marL="0" rtl="0" algn="l">
              <a:spcBef>
                <a:spcPts val="0"/>
              </a:spcBef>
              <a:spcAft>
                <a:spcPts val="0"/>
              </a:spcAft>
              <a:buNone/>
            </a:pPr>
            <a:r>
              <a:rPr i="0" lang="en" sz="1500"/>
              <a:t>Rohan Narasayya, </a:t>
            </a:r>
            <a:endParaRPr i="0" sz="1500"/>
          </a:p>
          <a:p>
            <a:pPr indent="0" lvl="0" marL="0" rtl="0" algn="l">
              <a:spcBef>
                <a:spcPts val="0"/>
              </a:spcBef>
              <a:spcAft>
                <a:spcPts val="0"/>
              </a:spcAft>
              <a:buNone/>
            </a:pPr>
            <a:r>
              <a:rPr i="0" lang="en" sz="1500"/>
              <a:t>Lucy Lennemann</a:t>
            </a:r>
            <a:endParaRPr i="0" sz="1500"/>
          </a:p>
        </p:txBody>
      </p:sp>
      <p:sp>
        <p:nvSpPr>
          <p:cNvPr id="399" name="Google Shape;399;p46"/>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December 2025</a:t>
            </a:r>
            <a:endParaRPr>
              <a:solidFill>
                <a:schemeClr val="lt2"/>
              </a:solidFill>
            </a:endParaRPr>
          </a:p>
          <a:p>
            <a:pPr indent="0" lvl="0" marL="0" rtl="0" algn="r">
              <a:spcBef>
                <a:spcPts val="0"/>
              </a:spcBef>
              <a:spcAft>
                <a:spcPts val="0"/>
              </a:spcAft>
              <a:buNone/>
            </a:pPr>
            <a:r>
              <a:t/>
            </a:r>
            <a:endParaRPr>
              <a:solidFill>
                <a:schemeClr val="lt2"/>
              </a:solidFill>
            </a:endParaRPr>
          </a:p>
        </p:txBody>
      </p:sp>
      <p:cxnSp>
        <p:nvCxnSpPr>
          <p:cNvPr id="400" name="Google Shape;400;p46"/>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401" name="Google Shape;401;p46"/>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02" name="Google Shape;402;p46"/>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7"/>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(1) Problem Overview</a:t>
            </a:r>
            <a:endParaRPr/>
          </a:p>
        </p:txBody>
      </p:sp>
      <p:cxnSp>
        <p:nvCxnSpPr>
          <p:cNvPr id="408" name="Google Shape;408;p4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09" name="Google Shape;409;p47"/>
          <p:cNvSpPr txBox="1"/>
          <p:nvPr>
            <p:ph idx="1" type="body"/>
          </p:nvPr>
        </p:nvSpPr>
        <p:spPr>
          <a:xfrm>
            <a:off x="1642100" y="1943225"/>
            <a:ext cx="6134400" cy="17469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700"/>
              <a:t>What is the best approach to </a:t>
            </a:r>
            <a:r>
              <a:rPr lang="en" sz="2700"/>
              <a:t>generate synthetic data to improve CTR classification? </a:t>
            </a:r>
            <a:endParaRPr sz="2700"/>
          </a:p>
          <a:p>
            <a:pPr indent="0" lvl="0" marL="0" rtl="0" algn="ctr">
              <a:spcBef>
                <a:spcPts val="1000"/>
              </a:spcBef>
              <a:spcAft>
                <a:spcPts val="1000"/>
              </a:spcAft>
              <a:buNone/>
            </a:pPr>
            <a:r>
              <a:t/>
            </a:r>
            <a:endParaRPr sz="1200"/>
          </a:p>
        </p:txBody>
      </p:sp>
      <p:sp>
        <p:nvSpPr>
          <p:cNvPr id="410" name="Google Shape;410;p47"/>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8"/>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 Data Pruning</a:t>
            </a:r>
            <a:endParaRPr/>
          </a:p>
        </p:txBody>
      </p:sp>
      <p:cxnSp>
        <p:nvCxnSpPr>
          <p:cNvPr id="416" name="Google Shape;416;p48"/>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17" name="Google Shape;417;p48"/>
          <p:cNvSpPr txBox="1"/>
          <p:nvPr>
            <p:ph idx="1" type="body"/>
          </p:nvPr>
        </p:nvSpPr>
        <p:spPr>
          <a:xfrm>
            <a:off x="255975" y="1547275"/>
            <a:ext cx="8157000" cy="16161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b="1" lang="en" sz="1500"/>
              <a:t>Goal: Reduce computational requirements by narrowing the scope of the problem</a:t>
            </a:r>
            <a:endParaRPr b="1" sz="1500"/>
          </a:p>
          <a:p>
            <a:pPr indent="-323850" lvl="0" marL="457200" rtl="0" algn="l">
              <a:lnSpc>
                <a:spcPct val="150000"/>
              </a:lnSpc>
              <a:spcBef>
                <a:spcPts val="0"/>
              </a:spcBef>
              <a:spcAft>
                <a:spcPts val="0"/>
              </a:spcAft>
              <a:buSzPts val="1500"/>
              <a:buChar char="●"/>
            </a:pPr>
            <a:r>
              <a:rPr lang="en" sz="1500"/>
              <a:t>Original ads dataset: </a:t>
            </a:r>
            <a:r>
              <a:rPr lang="en" sz="1500"/>
              <a:t>7 million rows, 35 predictors</a:t>
            </a:r>
            <a:endParaRPr sz="1500"/>
          </a:p>
          <a:p>
            <a:pPr indent="-323850" lvl="0" marL="457200" rtl="0" algn="l">
              <a:lnSpc>
                <a:spcPct val="150000"/>
              </a:lnSpc>
              <a:spcBef>
                <a:spcPts val="0"/>
              </a:spcBef>
              <a:spcAft>
                <a:spcPts val="0"/>
              </a:spcAft>
              <a:buSzPts val="1500"/>
              <a:buChar char="●"/>
            </a:pPr>
            <a:r>
              <a:rPr lang="en" sz="1500"/>
              <a:t>Narrow down to top six task_ids, D1 to D6</a:t>
            </a:r>
            <a:endParaRPr sz="1500"/>
          </a:p>
          <a:p>
            <a:pPr indent="-323850" lvl="0" marL="457200" rtl="0" algn="l">
              <a:lnSpc>
                <a:spcPct val="150000"/>
              </a:lnSpc>
              <a:spcBef>
                <a:spcPts val="0"/>
              </a:spcBef>
              <a:spcAft>
                <a:spcPts val="0"/>
              </a:spcAft>
              <a:buSzPts val="1500"/>
              <a:buChar char="●"/>
            </a:pPr>
            <a:r>
              <a:rPr lang="en" sz="1500"/>
              <a:t>Focus on users who have at least clicked on an ad once </a:t>
            </a:r>
            <a:endParaRPr sz="1500"/>
          </a:p>
        </p:txBody>
      </p:sp>
      <p:sp>
        <p:nvSpPr>
          <p:cNvPr id="418" name="Google Shape;418;p48"/>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9"/>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 Data Processing</a:t>
            </a:r>
            <a:endParaRPr/>
          </a:p>
        </p:txBody>
      </p:sp>
      <p:cxnSp>
        <p:nvCxnSpPr>
          <p:cNvPr id="424" name="Google Shape;424;p49"/>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25" name="Google Shape;425;p49"/>
          <p:cNvSpPr txBox="1"/>
          <p:nvPr>
            <p:ph idx="1" type="body"/>
          </p:nvPr>
        </p:nvSpPr>
        <p:spPr>
          <a:xfrm>
            <a:off x="255975" y="1547275"/>
            <a:ext cx="8408100" cy="1962600"/>
          </a:xfrm>
          <a:prstGeom prst="rect">
            <a:avLst/>
          </a:prstGeom>
        </p:spPr>
        <p:txBody>
          <a:bodyPr anchorCtr="0" anchor="t" bIns="0" lIns="0" spcFirstLastPara="1" rIns="0" wrap="square" tIns="0">
            <a:spAutoFit/>
          </a:bodyPr>
          <a:lstStyle/>
          <a:p>
            <a:pPr indent="-311150" lvl="0" marL="457200" rtl="0" algn="l">
              <a:lnSpc>
                <a:spcPct val="150000"/>
              </a:lnSpc>
              <a:spcBef>
                <a:spcPts val="0"/>
              </a:spcBef>
              <a:spcAft>
                <a:spcPts val="0"/>
              </a:spcAft>
              <a:buSzPts val="1300"/>
              <a:buChar char="●"/>
            </a:pPr>
            <a:r>
              <a:rPr lang="en" sz="1500"/>
              <a:t>Converting variables to correct data type </a:t>
            </a:r>
            <a:endParaRPr sz="1500"/>
          </a:p>
          <a:p>
            <a:pPr indent="-311150" lvl="1" marL="914400" rtl="0" algn="l">
              <a:lnSpc>
                <a:spcPct val="150000"/>
              </a:lnSpc>
              <a:spcBef>
                <a:spcPts val="0"/>
              </a:spcBef>
              <a:spcAft>
                <a:spcPts val="0"/>
              </a:spcAft>
              <a:buSzPts val="1300"/>
              <a:buChar char="○"/>
            </a:pPr>
            <a:r>
              <a:rPr lang="en" sz="1500"/>
              <a:t>pt_d → datetime</a:t>
            </a:r>
            <a:endParaRPr sz="1500"/>
          </a:p>
          <a:p>
            <a:pPr indent="-311150" lvl="0" marL="457200" rtl="0" algn="l">
              <a:lnSpc>
                <a:spcPct val="150000"/>
              </a:lnSpc>
              <a:spcBef>
                <a:spcPts val="0"/>
              </a:spcBef>
              <a:spcAft>
                <a:spcPts val="0"/>
              </a:spcAft>
              <a:buSzPts val="1300"/>
              <a:buChar char="●"/>
            </a:pPr>
            <a:r>
              <a:rPr lang="en" sz="1500"/>
              <a:t>Downcasted numerical data types, reducing memory footprint</a:t>
            </a:r>
            <a:endParaRPr sz="1500"/>
          </a:p>
          <a:p>
            <a:pPr indent="-323850" lvl="0" marL="457200" rtl="0" algn="l">
              <a:lnSpc>
                <a:spcPct val="150000"/>
              </a:lnSpc>
              <a:spcBef>
                <a:spcPts val="0"/>
              </a:spcBef>
              <a:spcAft>
                <a:spcPts val="0"/>
              </a:spcAft>
              <a:buSzPts val="1500"/>
              <a:buChar char="●"/>
            </a:pPr>
            <a:r>
              <a:rPr lang="en" sz="1500"/>
              <a:t>Engineer new count of interest category features </a:t>
            </a:r>
            <a:endParaRPr sz="1500"/>
          </a:p>
          <a:p>
            <a:pPr indent="-323850" lvl="0" marL="457200" rtl="0" algn="l">
              <a:lnSpc>
                <a:spcPct val="150000"/>
              </a:lnSpc>
              <a:spcBef>
                <a:spcPts val="0"/>
              </a:spcBef>
              <a:spcAft>
                <a:spcPts val="0"/>
              </a:spcAft>
              <a:buSzPts val="1500"/>
              <a:buChar char="●"/>
            </a:pPr>
            <a:r>
              <a:rPr lang="en" sz="1500"/>
              <a:t>Remove ID_fields for synthetic data generation</a:t>
            </a:r>
            <a:endParaRPr sz="1500"/>
          </a:p>
          <a:p>
            <a:pPr indent="-323850" lvl="0" marL="457200" rtl="0" algn="l">
              <a:lnSpc>
                <a:spcPct val="150000"/>
              </a:lnSpc>
              <a:spcBef>
                <a:spcPts val="0"/>
              </a:spcBef>
              <a:spcAft>
                <a:spcPts val="0"/>
              </a:spcAft>
              <a:buSzPts val="1500"/>
              <a:buChar char="●"/>
            </a:pPr>
            <a:r>
              <a:rPr lang="en" sz="1500"/>
              <a:t>Remove uninformative features through XGBoost </a:t>
            </a:r>
            <a:r>
              <a:rPr lang="en" sz="1500"/>
              <a:t>importance</a:t>
            </a:r>
            <a:r>
              <a:rPr lang="en" sz="1500"/>
              <a:t> analysis</a:t>
            </a:r>
            <a:endParaRPr sz="1500"/>
          </a:p>
        </p:txBody>
      </p:sp>
      <p:sp>
        <p:nvSpPr>
          <p:cNvPr id="426" name="Google Shape;426;p4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0"/>
          <p:cNvSpPr txBox="1"/>
          <p:nvPr>
            <p:ph type="title"/>
          </p:nvPr>
        </p:nvSpPr>
        <p:spPr>
          <a:xfrm>
            <a:off x="256025" y="256025"/>
            <a:ext cx="7799100" cy="372600"/>
          </a:xfrm>
          <a:prstGeom prst="rect">
            <a:avLst/>
          </a:prstGeom>
          <a:ln cap="flat" cmpd="sng" w="9525">
            <a:solidFill>
              <a:schemeClr val="accent3"/>
            </a:solidFill>
            <a:prstDash val="solid"/>
            <a:round/>
            <a:headEnd len="sm" w="sm" type="none"/>
            <a:tailEnd len="sm" w="sm" type="none"/>
          </a:ln>
        </p:spPr>
        <p:txBody>
          <a:bodyPr anchorCtr="0" anchor="t" bIns="0" lIns="0" spcFirstLastPara="1" rIns="0" wrap="square" tIns="0">
            <a:normAutofit fontScale="90000"/>
          </a:bodyPr>
          <a:lstStyle/>
          <a:p>
            <a:pPr indent="0" lvl="0" marL="0" rtl="0" algn="l">
              <a:spcBef>
                <a:spcPts val="0"/>
              </a:spcBef>
              <a:spcAft>
                <a:spcPts val="0"/>
              </a:spcAft>
              <a:buNone/>
            </a:pPr>
            <a:r>
              <a:rPr lang="en"/>
              <a:t>(3) Data Analysis Pre/Post Pruning</a:t>
            </a:r>
            <a:endParaRPr/>
          </a:p>
        </p:txBody>
      </p:sp>
      <p:cxnSp>
        <p:nvCxnSpPr>
          <p:cNvPr id="432" name="Google Shape;432;p50"/>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33" name="Google Shape;433;p50"/>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pic>
        <p:nvPicPr>
          <p:cNvPr id="434" name="Google Shape;434;p50"/>
          <p:cNvPicPr preferRelativeResize="0"/>
          <p:nvPr/>
        </p:nvPicPr>
        <p:blipFill>
          <a:blip r:embed="rId3">
            <a:alphaModFix/>
          </a:blip>
          <a:stretch>
            <a:fillRect/>
          </a:stretch>
        </p:blipFill>
        <p:spPr>
          <a:xfrm>
            <a:off x="69681" y="1809320"/>
            <a:ext cx="4441399" cy="2828229"/>
          </a:xfrm>
          <a:prstGeom prst="rect">
            <a:avLst/>
          </a:prstGeom>
          <a:noFill/>
          <a:ln cap="flat" cmpd="sng" w="9525">
            <a:solidFill>
              <a:srgbClr val="000000"/>
            </a:solidFill>
            <a:prstDash val="solid"/>
            <a:round/>
            <a:headEnd len="sm" w="sm" type="none"/>
            <a:tailEnd len="sm" w="sm" type="none"/>
          </a:ln>
        </p:spPr>
      </p:pic>
      <p:pic>
        <p:nvPicPr>
          <p:cNvPr id="435" name="Google Shape;435;p50"/>
          <p:cNvPicPr preferRelativeResize="0"/>
          <p:nvPr/>
        </p:nvPicPr>
        <p:blipFill>
          <a:blip r:embed="rId4">
            <a:alphaModFix/>
          </a:blip>
          <a:stretch>
            <a:fillRect/>
          </a:stretch>
        </p:blipFill>
        <p:spPr>
          <a:xfrm>
            <a:off x="4629100" y="1809325"/>
            <a:ext cx="4441399" cy="2828216"/>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1"/>
          <p:cNvSpPr txBox="1"/>
          <p:nvPr>
            <p:ph type="title"/>
          </p:nvPr>
        </p:nvSpPr>
        <p:spPr>
          <a:xfrm>
            <a:off x="256025" y="256025"/>
            <a:ext cx="7799100" cy="372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(3) Data Analysis Pre/Post Pruning</a:t>
            </a:r>
            <a:endParaRPr/>
          </a:p>
        </p:txBody>
      </p:sp>
      <p:cxnSp>
        <p:nvCxnSpPr>
          <p:cNvPr id="441" name="Google Shape;441;p51"/>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42" name="Google Shape;442;p51"/>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pic>
        <p:nvPicPr>
          <p:cNvPr id="443" name="Google Shape;443;p51"/>
          <p:cNvPicPr preferRelativeResize="0"/>
          <p:nvPr/>
        </p:nvPicPr>
        <p:blipFill>
          <a:blip r:embed="rId3">
            <a:alphaModFix/>
          </a:blip>
          <a:stretch>
            <a:fillRect/>
          </a:stretch>
        </p:blipFill>
        <p:spPr>
          <a:xfrm>
            <a:off x="4660113" y="1857414"/>
            <a:ext cx="4394887" cy="2828225"/>
          </a:xfrm>
          <a:prstGeom prst="rect">
            <a:avLst/>
          </a:prstGeom>
          <a:noFill/>
          <a:ln cap="flat" cmpd="sng" w="9525">
            <a:solidFill>
              <a:schemeClr val="dk1"/>
            </a:solidFill>
            <a:prstDash val="solid"/>
            <a:round/>
            <a:headEnd len="sm" w="sm" type="none"/>
            <a:tailEnd len="sm" w="sm" type="none"/>
          </a:ln>
        </p:spPr>
      </p:pic>
      <p:pic>
        <p:nvPicPr>
          <p:cNvPr id="444" name="Google Shape;444;p51"/>
          <p:cNvPicPr preferRelativeResize="0"/>
          <p:nvPr/>
        </p:nvPicPr>
        <p:blipFill>
          <a:blip r:embed="rId4">
            <a:alphaModFix/>
          </a:blip>
          <a:stretch>
            <a:fillRect/>
          </a:stretch>
        </p:blipFill>
        <p:spPr>
          <a:xfrm>
            <a:off x="70438" y="1857413"/>
            <a:ext cx="4487940" cy="28282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2"/>
          <p:cNvSpPr txBox="1"/>
          <p:nvPr>
            <p:ph type="title"/>
          </p:nvPr>
        </p:nvSpPr>
        <p:spPr>
          <a:xfrm>
            <a:off x="256025" y="256025"/>
            <a:ext cx="7799100" cy="372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(3) Data Analysis Pre/Post Pruning</a:t>
            </a:r>
            <a:endParaRPr/>
          </a:p>
        </p:txBody>
      </p:sp>
      <p:cxnSp>
        <p:nvCxnSpPr>
          <p:cNvPr id="450" name="Google Shape;450;p52"/>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51" name="Google Shape;451;p52"/>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pic>
        <p:nvPicPr>
          <p:cNvPr id="452" name="Google Shape;452;p52"/>
          <p:cNvPicPr preferRelativeResize="0"/>
          <p:nvPr/>
        </p:nvPicPr>
        <p:blipFill>
          <a:blip r:embed="rId3">
            <a:alphaModFix/>
          </a:blip>
          <a:stretch>
            <a:fillRect/>
          </a:stretch>
        </p:blipFill>
        <p:spPr>
          <a:xfrm>
            <a:off x="4594542" y="1697170"/>
            <a:ext cx="4394910" cy="2828250"/>
          </a:xfrm>
          <a:prstGeom prst="rect">
            <a:avLst/>
          </a:prstGeom>
          <a:noFill/>
          <a:ln cap="flat" cmpd="sng" w="9525">
            <a:solidFill>
              <a:schemeClr val="dk1"/>
            </a:solidFill>
            <a:prstDash val="solid"/>
            <a:round/>
            <a:headEnd len="sm" w="sm" type="none"/>
            <a:tailEnd len="sm" w="sm" type="none"/>
          </a:ln>
        </p:spPr>
      </p:pic>
      <p:pic>
        <p:nvPicPr>
          <p:cNvPr id="453" name="Google Shape;453;p52"/>
          <p:cNvPicPr preferRelativeResize="0"/>
          <p:nvPr/>
        </p:nvPicPr>
        <p:blipFill>
          <a:blip r:embed="rId4">
            <a:alphaModFix/>
          </a:blip>
          <a:stretch>
            <a:fillRect/>
          </a:stretch>
        </p:blipFill>
        <p:spPr>
          <a:xfrm>
            <a:off x="38392" y="1697170"/>
            <a:ext cx="4487951" cy="2828246"/>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3"/>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(3.1) Data Analysis Post Pruning</a:t>
            </a:r>
            <a:endParaRPr/>
          </a:p>
        </p:txBody>
      </p:sp>
      <p:cxnSp>
        <p:nvCxnSpPr>
          <p:cNvPr id="459" name="Google Shape;459;p53"/>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60" name="Google Shape;460;p53"/>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graphicFrame>
        <p:nvGraphicFramePr>
          <p:cNvPr id="461" name="Google Shape;461;p53"/>
          <p:cNvGraphicFramePr/>
          <p:nvPr/>
        </p:nvGraphicFramePr>
        <p:xfrm>
          <a:off x="952500" y="1438975"/>
          <a:ext cx="3000000" cy="3000000"/>
        </p:xfrm>
        <a:graphic>
          <a:graphicData uri="http://schemas.openxmlformats.org/drawingml/2006/table">
            <a:tbl>
              <a:tblPr>
                <a:noFill/>
                <a:tableStyleId>{38F6E047-CD46-4977-9190-7814317B4295}</a:tableStyleId>
              </a:tblPr>
              <a:tblGrid>
                <a:gridCol w="932750"/>
                <a:gridCol w="1206500"/>
                <a:gridCol w="1425400"/>
                <a:gridCol w="1316125"/>
                <a:gridCol w="1151725"/>
                <a:gridCol w="1206500"/>
              </a:tblGrid>
              <a:tr h="375325">
                <a:tc>
                  <a:txBody>
                    <a:bodyPr/>
                    <a:lstStyle/>
                    <a:p>
                      <a:pPr indent="0" lvl="0" marL="0" rtl="0" algn="l">
                        <a:spcBef>
                          <a:spcPts val="0"/>
                        </a:spcBef>
                        <a:spcAft>
                          <a:spcPts val="0"/>
                        </a:spcAft>
                        <a:buNone/>
                      </a:pPr>
                      <a:r>
                        <a:rPr b="1" lang="en"/>
                        <a:t>Dataset</a:t>
                      </a:r>
                      <a:endParaRPr b="1"/>
                    </a:p>
                  </a:txBody>
                  <a:tcPr marT="91425" marB="91425" marR="91425" marL="91425"/>
                </a:tc>
                <a:tc>
                  <a:txBody>
                    <a:bodyPr/>
                    <a:lstStyle/>
                    <a:p>
                      <a:pPr indent="0" lvl="0" marL="0" rtl="0" algn="l">
                        <a:spcBef>
                          <a:spcPts val="0"/>
                        </a:spcBef>
                        <a:spcAft>
                          <a:spcPts val="0"/>
                        </a:spcAft>
                        <a:buNone/>
                      </a:pPr>
                      <a:r>
                        <a:rPr b="1" lang="en"/>
                        <a:t>task_id</a:t>
                      </a:r>
                      <a:endParaRPr b="1"/>
                    </a:p>
                  </a:txBody>
                  <a:tcPr marT="91425" marB="91425" marR="91425" marL="91425"/>
                </a:tc>
                <a:tc>
                  <a:txBody>
                    <a:bodyPr/>
                    <a:lstStyle/>
                    <a:p>
                      <a:pPr indent="0" lvl="0" marL="0" rtl="0" algn="l">
                        <a:spcBef>
                          <a:spcPts val="0"/>
                        </a:spcBef>
                        <a:spcAft>
                          <a:spcPts val="0"/>
                        </a:spcAft>
                        <a:buNone/>
                      </a:pPr>
                      <a:r>
                        <a:rPr b="1" lang="en"/>
                        <a:t>rows_before</a:t>
                      </a:r>
                      <a:endParaRPr b="1"/>
                    </a:p>
                  </a:txBody>
                  <a:tcPr marT="91425" marB="91425" marR="91425" marL="91425"/>
                </a:tc>
                <a:tc>
                  <a:txBody>
                    <a:bodyPr/>
                    <a:lstStyle/>
                    <a:p>
                      <a:pPr indent="0" lvl="0" marL="0" rtl="0" algn="l">
                        <a:spcBef>
                          <a:spcPts val="0"/>
                        </a:spcBef>
                        <a:spcAft>
                          <a:spcPts val="0"/>
                        </a:spcAft>
                        <a:buNone/>
                      </a:pPr>
                      <a:r>
                        <a:rPr b="1" lang="en"/>
                        <a:t>rows_after</a:t>
                      </a:r>
                      <a:endParaRPr b="1"/>
                    </a:p>
                  </a:txBody>
                  <a:tcPr marT="91425" marB="91425" marR="91425" marL="91425"/>
                </a:tc>
                <a:tc>
                  <a:txBody>
                    <a:bodyPr/>
                    <a:lstStyle/>
                    <a:p>
                      <a:pPr indent="0" lvl="0" marL="0" rtl="0" algn="l">
                        <a:spcBef>
                          <a:spcPts val="0"/>
                        </a:spcBef>
                        <a:spcAft>
                          <a:spcPts val="0"/>
                        </a:spcAft>
                        <a:buNone/>
                      </a:pPr>
                      <a:r>
                        <a:rPr b="1" lang="en"/>
                        <a:t>ctr_before</a:t>
                      </a:r>
                      <a:endParaRPr b="1"/>
                    </a:p>
                  </a:txBody>
                  <a:tcPr marT="91425" marB="91425" marR="91425" marL="91425"/>
                </a:tc>
                <a:tc>
                  <a:txBody>
                    <a:bodyPr/>
                    <a:lstStyle/>
                    <a:p>
                      <a:pPr indent="0" lvl="0" marL="0" rtl="0" algn="l">
                        <a:spcBef>
                          <a:spcPts val="0"/>
                        </a:spcBef>
                        <a:spcAft>
                          <a:spcPts val="0"/>
                        </a:spcAft>
                        <a:buNone/>
                      </a:pPr>
                      <a:r>
                        <a:rPr b="1" lang="en"/>
                        <a:t>ctr_after</a:t>
                      </a:r>
                      <a:endParaRPr b="1"/>
                    </a:p>
                  </a:txBody>
                  <a:tcPr marT="91425" marB="91425" marR="91425" marL="91425"/>
                </a:tc>
              </a:tr>
              <a:tr h="33885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22100</a:t>
                      </a:r>
                      <a:endParaRPr/>
                    </a:p>
                  </a:txBody>
                  <a:tcPr marT="91425" marB="91425" marR="91425" marL="91425"/>
                </a:tc>
                <a:tc>
                  <a:txBody>
                    <a:bodyPr/>
                    <a:lstStyle/>
                    <a:p>
                      <a:pPr indent="0" lvl="0" marL="0" rtl="0" algn="l">
                        <a:spcBef>
                          <a:spcPts val="0"/>
                        </a:spcBef>
                        <a:spcAft>
                          <a:spcPts val="0"/>
                        </a:spcAft>
                        <a:buNone/>
                      </a:pPr>
                      <a:r>
                        <a:rPr lang="en"/>
                        <a:t>154812</a:t>
                      </a:r>
                      <a:endParaRPr/>
                    </a:p>
                  </a:txBody>
                  <a:tcPr marT="91425" marB="91425" marR="91425" marL="91425"/>
                </a:tc>
                <a:tc>
                  <a:txBody>
                    <a:bodyPr/>
                    <a:lstStyle/>
                    <a:p>
                      <a:pPr indent="0" lvl="0" marL="0" rtl="0" algn="l">
                        <a:spcBef>
                          <a:spcPts val="0"/>
                        </a:spcBef>
                        <a:spcAft>
                          <a:spcPts val="0"/>
                        </a:spcAft>
                        <a:buNone/>
                      </a:pPr>
                      <a:r>
                        <a:rPr lang="en"/>
                        <a:t>4628</a:t>
                      </a:r>
                      <a:endParaRPr/>
                    </a:p>
                  </a:txBody>
                  <a:tcPr marT="91425" marB="91425" marR="91425" marL="91425"/>
                </a:tc>
                <a:tc>
                  <a:txBody>
                    <a:bodyPr/>
                    <a:lstStyle/>
                    <a:p>
                      <a:pPr indent="0" lvl="0" marL="0" rtl="0" algn="l">
                        <a:spcBef>
                          <a:spcPts val="0"/>
                        </a:spcBef>
                        <a:spcAft>
                          <a:spcPts val="0"/>
                        </a:spcAft>
                        <a:buNone/>
                      </a:pPr>
                      <a:r>
                        <a:rPr lang="en"/>
                        <a:t>0.001815</a:t>
                      </a:r>
                      <a:endParaRPr/>
                    </a:p>
                  </a:txBody>
                  <a:tcPr marT="91425" marB="91425" marR="91425" marL="91425"/>
                </a:tc>
                <a:tc>
                  <a:txBody>
                    <a:bodyPr/>
                    <a:lstStyle/>
                    <a:p>
                      <a:pPr indent="0" lvl="0" marL="0" rtl="0" algn="l">
                        <a:spcBef>
                          <a:spcPts val="0"/>
                        </a:spcBef>
                        <a:spcAft>
                          <a:spcPts val="0"/>
                        </a:spcAft>
                        <a:buNone/>
                      </a:pPr>
                      <a:r>
                        <a:rPr lang="en"/>
                        <a:t>0.060717</a:t>
                      </a:r>
                      <a:endParaRPr/>
                    </a:p>
                  </a:txBody>
                  <a:tcPr marT="91425" marB="91425" marR="91425" marL="91425"/>
                </a:tc>
              </a:tr>
              <a:tr h="357100">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14584</a:t>
                      </a:r>
                      <a:endParaRPr/>
                    </a:p>
                  </a:txBody>
                  <a:tcPr marT="91425" marB="91425" marR="91425" marL="91425"/>
                </a:tc>
                <a:tc>
                  <a:txBody>
                    <a:bodyPr/>
                    <a:lstStyle/>
                    <a:p>
                      <a:pPr indent="0" lvl="0" marL="0" rtl="0" algn="l">
                        <a:spcBef>
                          <a:spcPts val="0"/>
                        </a:spcBef>
                        <a:spcAft>
                          <a:spcPts val="0"/>
                        </a:spcAft>
                        <a:buNone/>
                      </a:pPr>
                      <a:r>
                        <a:rPr lang="en"/>
                        <a:t>126367</a:t>
                      </a:r>
                      <a:endParaRPr/>
                    </a:p>
                  </a:txBody>
                  <a:tcPr marT="91425" marB="91425" marR="91425" marL="91425"/>
                </a:tc>
                <a:tc>
                  <a:txBody>
                    <a:bodyPr/>
                    <a:lstStyle/>
                    <a:p>
                      <a:pPr indent="0" lvl="0" marL="0" rtl="0" algn="l">
                        <a:spcBef>
                          <a:spcPts val="0"/>
                        </a:spcBef>
                        <a:spcAft>
                          <a:spcPts val="0"/>
                        </a:spcAft>
                        <a:buNone/>
                      </a:pPr>
                      <a:r>
                        <a:rPr lang="en"/>
                        <a:t>29359</a:t>
                      </a:r>
                      <a:endParaRPr/>
                    </a:p>
                  </a:txBody>
                  <a:tcPr marT="91425" marB="91425" marR="91425" marL="91425"/>
                </a:tc>
                <a:tc>
                  <a:txBody>
                    <a:bodyPr/>
                    <a:lstStyle/>
                    <a:p>
                      <a:pPr indent="0" lvl="0" marL="0" rtl="0" algn="l">
                        <a:spcBef>
                          <a:spcPts val="0"/>
                        </a:spcBef>
                        <a:spcAft>
                          <a:spcPts val="0"/>
                        </a:spcAft>
                        <a:buNone/>
                      </a:pPr>
                      <a:r>
                        <a:rPr lang="en"/>
                        <a:t>0.014790</a:t>
                      </a:r>
                      <a:endParaRPr/>
                    </a:p>
                  </a:txBody>
                  <a:tcPr marT="91425" marB="91425" marR="91425" marL="91425"/>
                </a:tc>
                <a:tc>
                  <a:txBody>
                    <a:bodyPr/>
                    <a:lstStyle/>
                    <a:p>
                      <a:pPr indent="0" lvl="0" marL="0" rtl="0" algn="l">
                        <a:spcBef>
                          <a:spcPts val="0"/>
                        </a:spcBef>
                        <a:spcAft>
                          <a:spcPts val="0"/>
                        </a:spcAft>
                        <a:buNone/>
                      </a:pPr>
                      <a:r>
                        <a:rPr lang="en"/>
                        <a:t>0.063660</a:t>
                      </a:r>
                      <a:endParaRPr/>
                    </a:p>
                  </a:txBody>
                  <a:tcPr marT="91425" marB="91425" marR="91425" marL="91425"/>
                </a:tc>
              </a:tr>
              <a:tr h="338825">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34382</a:t>
                      </a:r>
                      <a:endParaRPr/>
                    </a:p>
                  </a:txBody>
                  <a:tcPr marT="91425" marB="91425" marR="91425" marL="91425"/>
                </a:tc>
                <a:tc>
                  <a:txBody>
                    <a:bodyPr/>
                    <a:lstStyle/>
                    <a:p>
                      <a:pPr indent="0" lvl="0" marL="0" rtl="0" algn="l">
                        <a:spcBef>
                          <a:spcPts val="0"/>
                        </a:spcBef>
                        <a:spcAft>
                          <a:spcPts val="0"/>
                        </a:spcAft>
                        <a:buNone/>
                      </a:pPr>
                      <a:r>
                        <a:rPr lang="en"/>
                        <a:t>122094</a:t>
                      </a:r>
                      <a:endParaRPr/>
                    </a:p>
                  </a:txBody>
                  <a:tcPr marT="91425" marB="91425" marR="91425" marL="91425"/>
                </a:tc>
                <a:tc>
                  <a:txBody>
                    <a:bodyPr/>
                    <a:lstStyle/>
                    <a:p>
                      <a:pPr indent="0" lvl="0" marL="0" rtl="0" algn="l">
                        <a:spcBef>
                          <a:spcPts val="0"/>
                        </a:spcBef>
                        <a:spcAft>
                          <a:spcPts val="0"/>
                        </a:spcAft>
                        <a:buNone/>
                      </a:pPr>
                      <a:r>
                        <a:rPr lang="en"/>
                        <a:t>2724</a:t>
                      </a:r>
                      <a:endParaRPr/>
                    </a:p>
                  </a:txBody>
                  <a:tcPr marT="91425" marB="91425" marR="91425" marL="91425"/>
                </a:tc>
                <a:tc>
                  <a:txBody>
                    <a:bodyPr/>
                    <a:lstStyle/>
                    <a:p>
                      <a:pPr indent="0" lvl="0" marL="0" rtl="0" algn="l">
                        <a:spcBef>
                          <a:spcPts val="0"/>
                        </a:spcBef>
                        <a:spcAft>
                          <a:spcPts val="0"/>
                        </a:spcAft>
                        <a:buNone/>
                      </a:pPr>
                      <a:r>
                        <a:rPr lang="en"/>
                        <a:t>0.001589</a:t>
                      </a:r>
                      <a:endParaRPr/>
                    </a:p>
                  </a:txBody>
                  <a:tcPr marT="91425" marB="91425" marR="91425" marL="91425"/>
                </a:tc>
                <a:tc>
                  <a:txBody>
                    <a:bodyPr/>
                    <a:lstStyle/>
                    <a:p>
                      <a:pPr indent="0" lvl="0" marL="0" rtl="0" algn="l">
                        <a:spcBef>
                          <a:spcPts val="0"/>
                        </a:spcBef>
                        <a:spcAft>
                          <a:spcPts val="0"/>
                        </a:spcAft>
                        <a:buNone/>
                      </a:pPr>
                      <a:r>
                        <a:rPr lang="en"/>
                        <a:t>0.071219</a:t>
                      </a:r>
                      <a:endParaRPr/>
                    </a:p>
                  </a:txBody>
                  <a:tcPr marT="91425" marB="91425" marR="91425" marL="91425"/>
                </a:tc>
              </a:tr>
              <a:tr h="357075">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34975</a:t>
                      </a:r>
                      <a:endParaRPr/>
                    </a:p>
                  </a:txBody>
                  <a:tcPr marT="91425" marB="91425" marR="91425" marL="91425"/>
                </a:tc>
                <a:tc>
                  <a:txBody>
                    <a:bodyPr/>
                    <a:lstStyle/>
                    <a:p>
                      <a:pPr indent="0" lvl="0" marL="0" rtl="0" algn="l">
                        <a:spcBef>
                          <a:spcPts val="0"/>
                        </a:spcBef>
                        <a:spcAft>
                          <a:spcPts val="0"/>
                        </a:spcAft>
                        <a:buNone/>
                      </a:pPr>
                      <a:r>
                        <a:rPr lang="en"/>
                        <a:t>92381</a:t>
                      </a:r>
                      <a:endParaRPr/>
                    </a:p>
                  </a:txBody>
                  <a:tcPr marT="91425" marB="91425" marR="91425" marL="91425"/>
                </a:tc>
                <a:tc>
                  <a:txBody>
                    <a:bodyPr/>
                    <a:lstStyle/>
                    <a:p>
                      <a:pPr indent="0" lvl="0" marL="0" rtl="0" algn="l">
                        <a:spcBef>
                          <a:spcPts val="0"/>
                        </a:spcBef>
                        <a:spcAft>
                          <a:spcPts val="0"/>
                        </a:spcAft>
                        <a:buNone/>
                      </a:pPr>
                      <a:r>
                        <a:rPr lang="en"/>
                        <a:t>3880</a:t>
                      </a:r>
                      <a:endParaRPr/>
                    </a:p>
                  </a:txBody>
                  <a:tcPr marT="91425" marB="91425" marR="91425" marL="91425"/>
                </a:tc>
                <a:tc>
                  <a:txBody>
                    <a:bodyPr/>
                    <a:lstStyle/>
                    <a:p>
                      <a:pPr indent="0" lvl="0" marL="0" rtl="0" algn="l">
                        <a:spcBef>
                          <a:spcPts val="0"/>
                        </a:spcBef>
                        <a:spcAft>
                          <a:spcPts val="0"/>
                        </a:spcAft>
                        <a:buNone/>
                      </a:pPr>
                      <a:r>
                        <a:rPr lang="en"/>
                        <a:t>0.001927</a:t>
                      </a:r>
                      <a:endParaRPr/>
                    </a:p>
                  </a:txBody>
                  <a:tcPr marT="91425" marB="91425" marR="91425" marL="91425"/>
                </a:tc>
                <a:tc>
                  <a:txBody>
                    <a:bodyPr/>
                    <a:lstStyle/>
                    <a:p>
                      <a:pPr indent="0" lvl="0" marL="0" rtl="0" algn="l">
                        <a:spcBef>
                          <a:spcPts val="0"/>
                        </a:spcBef>
                        <a:spcAft>
                          <a:spcPts val="0"/>
                        </a:spcAft>
                        <a:buNone/>
                      </a:pPr>
                      <a:r>
                        <a:rPr lang="en"/>
                        <a:t>0.045876</a:t>
                      </a:r>
                      <a:endParaRPr/>
                    </a:p>
                  </a:txBody>
                  <a:tcPr marT="91425" marB="91425" marR="91425" marL="91425"/>
                </a:tc>
              </a:tr>
              <a:tr h="338850">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31941</a:t>
                      </a:r>
                      <a:endParaRPr/>
                    </a:p>
                  </a:txBody>
                  <a:tcPr marT="91425" marB="91425" marR="91425" marL="91425"/>
                </a:tc>
                <a:tc>
                  <a:txBody>
                    <a:bodyPr/>
                    <a:lstStyle/>
                    <a:p>
                      <a:pPr indent="0" lvl="0" marL="0" rtl="0" algn="l">
                        <a:spcBef>
                          <a:spcPts val="0"/>
                        </a:spcBef>
                        <a:spcAft>
                          <a:spcPts val="0"/>
                        </a:spcAft>
                        <a:buNone/>
                      </a:pPr>
                      <a:r>
                        <a:rPr lang="en"/>
                        <a:t>77470</a:t>
                      </a:r>
                      <a:endParaRPr/>
                    </a:p>
                  </a:txBody>
                  <a:tcPr marT="91425" marB="91425" marR="91425" marL="91425"/>
                </a:tc>
                <a:tc>
                  <a:txBody>
                    <a:bodyPr/>
                    <a:lstStyle/>
                    <a:p>
                      <a:pPr indent="0" lvl="0" marL="0" rtl="0" algn="l">
                        <a:spcBef>
                          <a:spcPts val="0"/>
                        </a:spcBef>
                        <a:spcAft>
                          <a:spcPts val="0"/>
                        </a:spcAft>
                        <a:buNone/>
                      </a:pPr>
                      <a:r>
                        <a:rPr lang="en"/>
                        <a:t>12677</a:t>
                      </a:r>
                      <a:endParaRPr/>
                    </a:p>
                  </a:txBody>
                  <a:tcPr marT="91425" marB="91425" marR="91425" marL="91425"/>
                </a:tc>
                <a:tc>
                  <a:txBody>
                    <a:bodyPr/>
                    <a:lstStyle/>
                    <a:p>
                      <a:pPr indent="0" lvl="0" marL="0" rtl="0" algn="l">
                        <a:spcBef>
                          <a:spcPts val="0"/>
                        </a:spcBef>
                        <a:spcAft>
                          <a:spcPts val="0"/>
                        </a:spcAft>
                        <a:buNone/>
                      </a:pPr>
                      <a:r>
                        <a:rPr lang="en"/>
                        <a:t>0.032167</a:t>
                      </a:r>
                      <a:endParaRPr/>
                    </a:p>
                  </a:txBody>
                  <a:tcPr marT="91425" marB="91425" marR="91425" marL="91425"/>
                </a:tc>
                <a:tc>
                  <a:txBody>
                    <a:bodyPr/>
                    <a:lstStyle/>
                    <a:p>
                      <a:pPr indent="0" lvl="0" marL="0" rtl="0" algn="l">
                        <a:spcBef>
                          <a:spcPts val="0"/>
                        </a:spcBef>
                        <a:spcAft>
                          <a:spcPts val="0"/>
                        </a:spcAft>
                        <a:buNone/>
                      </a:pPr>
                      <a:r>
                        <a:rPr lang="en"/>
                        <a:t>0.196576</a:t>
                      </a:r>
                      <a:endParaRPr/>
                    </a:p>
                  </a:txBody>
                  <a:tcPr marT="91425" marB="91425" marR="91425" marL="91425"/>
                </a:tc>
              </a:tr>
              <a:tr h="341450">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31996</a:t>
                      </a:r>
                      <a:endParaRPr/>
                    </a:p>
                  </a:txBody>
                  <a:tcPr marT="91425" marB="91425" marR="91425" marL="91425"/>
                </a:tc>
                <a:tc>
                  <a:txBody>
                    <a:bodyPr/>
                    <a:lstStyle/>
                    <a:p>
                      <a:pPr indent="0" lvl="0" marL="0" rtl="0" algn="l">
                        <a:spcBef>
                          <a:spcPts val="0"/>
                        </a:spcBef>
                        <a:spcAft>
                          <a:spcPts val="0"/>
                        </a:spcAft>
                        <a:buNone/>
                      </a:pPr>
                      <a:r>
                        <a:rPr lang="en"/>
                        <a:t>69691</a:t>
                      </a:r>
                      <a:endParaRPr/>
                    </a:p>
                  </a:txBody>
                  <a:tcPr marT="91425" marB="91425" marR="91425" marL="91425"/>
                </a:tc>
                <a:tc>
                  <a:txBody>
                    <a:bodyPr/>
                    <a:lstStyle/>
                    <a:p>
                      <a:pPr indent="0" lvl="0" marL="0" rtl="0" algn="l">
                        <a:spcBef>
                          <a:spcPts val="0"/>
                        </a:spcBef>
                        <a:spcAft>
                          <a:spcPts val="0"/>
                        </a:spcAft>
                        <a:buNone/>
                      </a:pPr>
                      <a:r>
                        <a:rPr lang="en"/>
                        <a:t>1555</a:t>
                      </a:r>
                      <a:endParaRPr/>
                    </a:p>
                  </a:txBody>
                  <a:tcPr marT="91425" marB="91425" marR="91425" marL="91425"/>
                </a:tc>
                <a:tc>
                  <a:txBody>
                    <a:bodyPr/>
                    <a:lstStyle/>
                    <a:p>
                      <a:pPr indent="0" lvl="0" marL="0" rtl="0" algn="l">
                        <a:spcBef>
                          <a:spcPts val="0"/>
                        </a:spcBef>
                        <a:spcAft>
                          <a:spcPts val="0"/>
                        </a:spcAft>
                        <a:buNone/>
                      </a:pPr>
                      <a:r>
                        <a:rPr lang="en"/>
                        <a:t>0.002525</a:t>
                      </a:r>
                      <a:endParaRPr/>
                    </a:p>
                  </a:txBody>
                  <a:tcPr marT="91425" marB="91425" marR="91425" marL="91425"/>
                </a:tc>
                <a:tc>
                  <a:txBody>
                    <a:bodyPr/>
                    <a:lstStyle/>
                    <a:p>
                      <a:pPr indent="0" lvl="0" marL="0" rtl="0" algn="l">
                        <a:spcBef>
                          <a:spcPts val="0"/>
                        </a:spcBef>
                        <a:spcAft>
                          <a:spcPts val="0"/>
                        </a:spcAft>
                        <a:buNone/>
                      </a:pPr>
                      <a:r>
                        <a:rPr lang="en"/>
                        <a:t>0.113183</a:t>
                      </a:r>
                      <a:endParaRPr/>
                    </a:p>
                  </a:txBody>
                  <a:tcPr marT="91425" marB="91425" marR="91425" marL="91425"/>
                </a:tc>
              </a:tr>
            </a:tbl>
          </a:graphicData>
        </a:graphic>
      </p:graphicFrame>
      <p:sp>
        <p:nvSpPr>
          <p:cNvPr id="462" name="Google Shape;462;p53"/>
          <p:cNvSpPr txBox="1"/>
          <p:nvPr/>
        </p:nvSpPr>
        <p:spPr>
          <a:xfrm>
            <a:off x="2477400" y="4342375"/>
            <a:ext cx="4189200" cy="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2"/>
                </a:solidFill>
                <a:latin typeface="Montserrat"/>
                <a:ea typeface="Montserrat"/>
                <a:cs typeface="Montserrat"/>
                <a:sym typeface="Montserrat"/>
              </a:rPr>
              <a:t>Full Dataset CTR: </a:t>
            </a:r>
            <a:r>
              <a:rPr lang="en" sz="1900">
                <a:solidFill>
                  <a:schemeClr val="lt2"/>
                </a:solidFill>
                <a:latin typeface="Montserrat"/>
                <a:ea typeface="Montserrat"/>
                <a:cs typeface="Montserrat"/>
                <a:sym typeface="Montserrat"/>
              </a:rPr>
              <a:t>0.0947 (9.47%)</a:t>
            </a:r>
            <a:endParaRPr sz="1900">
              <a:solidFill>
                <a:schemeClr val="lt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4"/>
          <p:cNvSpPr txBox="1"/>
          <p:nvPr>
            <p:ph type="title"/>
          </p:nvPr>
        </p:nvSpPr>
        <p:spPr>
          <a:xfrm>
            <a:off x="256025" y="256025"/>
            <a:ext cx="7799100" cy="372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(4) Synthetic Data Generation: Realtabformer</a:t>
            </a:r>
            <a:endParaRPr/>
          </a:p>
        </p:txBody>
      </p:sp>
      <p:cxnSp>
        <p:nvCxnSpPr>
          <p:cNvPr id="468" name="Google Shape;468;p54"/>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69" name="Google Shape;469;p54"/>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
        <p:nvSpPr>
          <p:cNvPr id="470" name="Google Shape;470;p54"/>
          <p:cNvSpPr txBox="1"/>
          <p:nvPr>
            <p:ph idx="1" type="body"/>
          </p:nvPr>
        </p:nvSpPr>
        <p:spPr>
          <a:xfrm>
            <a:off x="255975" y="1547275"/>
            <a:ext cx="5997000" cy="19626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lang="en" sz="1500"/>
              <a:t>Realistic Relational and Tabular Transformer</a:t>
            </a:r>
            <a:endParaRPr sz="1500"/>
          </a:p>
          <a:p>
            <a:pPr indent="-323850" lvl="0" marL="457200" rtl="0" algn="l">
              <a:lnSpc>
                <a:spcPct val="150000"/>
              </a:lnSpc>
              <a:spcBef>
                <a:spcPts val="0"/>
              </a:spcBef>
              <a:spcAft>
                <a:spcPts val="0"/>
              </a:spcAft>
              <a:buSzPts val="1500"/>
              <a:buChar char="●"/>
            </a:pPr>
            <a:r>
              <a:rPr lang="en" sz="1500"/>
              <a:t>Uses autoregressive transformer model, ChatGPT-2 </a:t>
            </a:r>
            <a:endParaRPr sz="1500"/>
          </a:p>
          <a:p>
            <a:pPr indent="-323850" lvl="0" marL="457200" rtl="0" algn="l">
              <a:lnSpc>
                <a:spcPct val="150000"/>
              </a:lnSpc>
              <a:spcBef>
                <a:spcPts val="0"/>
              </a:spcBef>
              <a:spcAft>
                <a:spcPts val="0"/>
              </a:spcAft>
              <a:buSzPts val="1500"/>
              <a:buChar char="●"/>
            </a:pPr>
            <a:r>
              <a:rPr lang="en" sz="1500"/>
              <a:t>Changed hyperparameters to shorten training process</a:t>
            </a:r>
            <a:endParaRPr sz="1500"/>
          </a:p>
          <a:p>
            <a:pPr indent="-323850" lvl="1" marL="914400" rtl="0" algn="l">
              <a:lnSpc>
                <a:spcPct val="150000"/>
              </a:lnSpc>
              <a:spcBef>
                <a:spcPts val="0"/>
              </a:spcBef>
              <a:spcAft>
                <a:spcPts val="0"/>
              </a:spcAft>
              <a:buSzPts val="1500"/>
              <a:buChar char="○"/>
            </a:pPr>
            <a:r>
              <a:rPr lang="en" sz="1500"/>
              <a:t>75 epochs, turned off full sensitivity </a:t>
            </a:r>
            <a:endParaRPr sz="1500"/>
          </a:p>
          <a:p>
            <a:pPr indent="-323850" lvl="0" marL="457200" rtl="0" algn="l">
              <a:lnSpc>
                <a:spcPct val="150000"/>
              </a:lnSpc>
              <a:spcBef>
                <a:spcPts val="0"/>
              </a:spcBef>
              <a:spcAft>
                <a:spcPts val="0"/>
              </a:spcAft>
              <a:buSzPts val="1500"/>
              <a:buChar char="●"/>
            </a:pPr>
            <a:r>
              <a:rPr lang="en" sz="1500"/>
              <a:t>Train a different model for each subset of data D1 - D6 and generate a sample of 10,000 rows</a:t>
            </a:r>
            <a:endParaRPr sz="1500"/>
          </a:p>
        </p:txBody>
      </p:sp>
      <p:pic>
        <p:nvPicPr>
          <p:cNvPr id="471" name="Google Shape;471;p54"/>
          <p:cNvPicPr preferRelativeResize="0"/>
          <p:nvPr/>
        </p:nvPicPr>
        <p:blipFill>
          <a:blip r:embed="rId3">
            <a:alphaModFix/>
          </a:blip>
          <a:stretch>
            <a:fillRect/>
          </a:stretch>
        </p:blipFill>
        <p:spPr>
          <a:xfrm>
            <a:off x="6252850" y="1469925"/>
            <a:ext cx="2411220" cy="34175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5"/>
          <p:cNvSpPr txBox="1"/>
          <p:nvPr>
            <p:ph type="title"/>
          </p:nvPr>
        </p:nvSpPr>
        <p:spPr>
          <a:xfrm>
            <a:off x="256025" y="256025"/>
            <a:ext cx="7799100" cy="372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(4) Synthetic Data Generation: CTGAN</a:t>
            </a:r>
            <a:endParaRPr/>
          </a:p>
        </p:txBody>
      </p:sp>
      <p:cxnSp>
        <p:nvCxnSpPr>
          <p:cNvPr id="477" name="Google Shape;477;p55"/>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78" name="Google Shape;478;p55"/>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
        <p:nvSpPr>
          <p:cNvPr id="479" name="Google Shape;479;p55"/>
          <p:cNvSpPr txBox="1"/>
          <p:nvPr>
            <p:ph idx="1" type="body"/>
          </p:nvPr>
        </p:nvSpPr>
        <p:spPr>
          <a:xfrm>
            <a:off x="255975" y="1547275"/>
            <a:ext cx="8328300" cy="19626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lang="en" sz="1500"/>
              <a:t>Conditional generative adversarial network</a:t>
            </a:r>
            <a:endParaRPr sz="1500"/>
          </a:p>
          <a:p>
            <a:pPr indent="-323850" lvl="0" marL="457200" rtl="0" algn="l">
              <a:lnSpc>
                <a:spcPct val="150000"/>
              </a:lnSpc>
              <a:spcBef>
                <a:spcPts val="0"/>
              </a:spcBef>
              <a:spcAft>
                <a:spcPts val="0"/>
              </a:spcAft>
              <a:buSzPts val="1500"/>
              <a:buChar char="●"/>
            </a:pPr>
            <a:r>
              <a:rPr lang="en" sz="1500"/>
              <a:t>Uses 2 neural networks, the generator and the critic, to improve the synthetic data </a:t>
            </a:r>
            <a:endParaRPr sz="1500"/>
          </a:p>
          <a:p>
            <a:pPr indent="-323850" lvl="0" marL="457200" rtl="0" algn="l">
              <a:lnSpc>
                <a:spcPct val="150000"/>
              </a:lnSpc>
              <a:spcBef>
                <a:spcPts val="0"/>
              </a:spcBef>
              <a:spcAft>
                <a:spcPts val="0"/>
              </a:spcAft>
              <a:buSzPts val="1500"/>
              <a:buChar char="●"/>
            </a:pPr>
            <a:r>
              <a:rPr lang="en" sz="1500"/>
              <a:t>Learns distributions more accurately due to techniques like conditional generation and oversampling of rare categories </a:t>
            </a:r>
            <a:endParaRPr sz="1500"/>
          </a:p>
          <a:p>
            <a:pPr indent="-323850" lvl="0" marL="457200" rtl="0" algn="l">
              <a:lnSpc>
                <a:spcPct val="150000"/>
              </a:lnSpc>
              <a:spcBef>
                <a:spcPts val="0"/>
              </a:spcBef>
              <a:spcAft>
                <a:spcPts val="0"/>
              </a:spcAft>
              <a:buSzPts val="1500"/>
              <a:buChar char="●"/>
            </a:pPr>
            <a:r>
              <a:rPr lang="en" sz="1500"/>
              <a:t>Train a different model for each subset of data D1 - D6 and generate a sample of 10,000 rows</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(5) Problem Overview</a:t>
            </a:r>
            <a:endParaRPr/>
          </a:p>
        </p:txBody>
      </p:sp>
      <p:cxnSp>
        <p:nvCxnSpPr>
          <p:cNvPr id="485" name="Google Shape;485;p56"/>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86" name="Google Shape;486;p56"/>
          <p:cNvSpPr txBox="1"/>
          <p:nvPr>
            <p:ph idx="1" type="body"/>
          </p:nvPr>
        </p:nvSpPr>
        <p:spPr>
          <a:xfrm>
            <a:off x="1619850" y="1924525"/>
            <a:ext cx="5904300" cy="17469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700"/>
              <a:t>How can we develop a framework to evaluate generated synthetic tabular data?</a:t>
            </a:r>
            <a:r>
              <a:rPr lang="en" sz="2700"/>
              <a:t> </a:t>
            </a:r>
            <a:endParaRPr sz="2700"/>
          </a:p>
          <a:p>
            <a:pPr indent="0" lvl="0" marL="0" rtl="0" algn="ctr">
              <a:spcBef>
                <a:spcPts val="1000"/>
              </a:spcBef>
              <a:spcAft>
                <a:spcPts val="1000"/>
              </a:spcAft>
              <a:buNone/>
            </a:pPr>
            <a:r>
              <a:t/>
            </a:r>
            <a:endParaRPr sz="1200"/>
          </a:p>
        </p:txBody>
      </p:sp>
      <p:sp>
        <p:nvSpPr>
          <p:cNvPr id="487" name="Google Shape;487;p56"/>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7"/>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(6) Evaluation: Data Privacy</a:t>
            </a:r>
            <a:endParaRPr/>
          </a:p>
        </p:txBody>
      </p:sp>
      <p:cxnSp>
        <p:nvCxnSpPr>
          <p:cNvPr id="493" name="Google Shape;493;p5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494" name="Google Shape;494;p57"/>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495" name="Google Shape;495;p57"/>
          <p:cNvSpPr txBox="1"/>
          <p:nvPr>
            <p:ph idx="1" type="body"/>
          </p:nvPr>
        </p:nvSpPr>
        <p:spPr>
          <a:xfrm>
            <a:off x="255975" y="1547275"/>
            <a:ext cx="8328300" cy="23088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lang="en" sz="1500"/>
              <a:t>Realtabformer already i</a:t>
            </a:r>
            <a:r>
              <a:rPr lang="en" sz="1500"/>
              <a:t>mplements regularization to prevent data-copying</a:t>
            </a:r>
            <a:endParaRPr sz="1500"/>
          </a:p>
          <a:p>
            <a:pPr indent="-323850" lvl="1" marL="914400" rtl="0" algn="l">
              <a:lnSpc>
                <a:spcPct val="150000"/>
              </a:lnSpc>
              <a:spcBef>
                <a:spcPts val="0"/>
              </a:spcBef>
              <a:spcAft>
                <a:spcPts val="0"/>
              </a:spcAft>
              <a:buSzPts val="1500"/>
              <a:buChar char="○"/>
            </a:pPr>
            <a:r>
              <a:rPr lang="en" sz="1500"/>
              <a:t>Uses target masking: artificially introducing missing values</a:t>
            </a:r>
            <a:endParaRPr sz="1500"/>
          </a:p>
          <a:p>
            <a:pPr indent="-323850" lvl="1" marL="914400" rtl="0" algn="l">
              <a:lnSpc>
                <a:spcPct val="150000"/>
              </a:lnSpc>
              <a:spcBef>
                <a:spcPts val="0"/>
              </a:spcBef>
              <a:spcAft>
                <a:spcPts val="0"/>
              </a:spcAft>
              <a:buSzPts val="1500"/>
              <a:buChar char="○"/>
            </a:pPr>
            <a:r>
              <a:rPr lang="en" sz="1500"/>
              <a:t>Computes a stopping threshold to avoid overfitting using distance to closest record</a:t>
            </a:r>
            <a:endParaRPr sz="1500"/>
          </a:p>
          <a:p>
            <a:pPr indent="-323850" lvl="0" marL="457200" rtl="0" algn="l">
              <a:lnSpc>
                <a:spcPct val="150000"/>
              </a:lnSpc>
              <a:spcBef>
                <a:spcPts val="0"/>
              </a:spcBef>
              <a:spcAft>
                <a:spcPts val="0"/>
              </a:spcAft>
              <a:buSzPts val="1500"/>
              <a:buChar char="●"/>
            </a:pPr>
            <a:r>
              <a:rPr lang="en" sz="1500"/>
              <a:t>Further statistical tests to be evaluate data post-generation</a:t>
            </a:r>
            <a:endParaRPr sz="1500"/>
          </a:p>
          <a:p>
            <a:pPr indent="-323850" lvl="1" marL="914400" rtl="0" algn="l">
              <a:lnSpc>
                <a:spcPct val="150000"/>
              </a:lnSpc>
              <a:spcBef>
                <a:spcPts val="0"/>
              </a:spcBef>
              <a:spcAft>
                <a:spcPts val="0"/>
              </a:spcAft>
              <a:buSzPts val="1500"/>
              <a:buChar char="○"/>
            </a:pPr>
            <a:r>
              <a:rPr lang="en" sz="1500"/>
              <a:t>DCR using Realtabformer method</a:t>
            </a:r>
            <a:endParaRPr sz="1500"/>
          </a:p>
          <a:p>
            <a:pPr indent="-323850" lvl="1" marL="914400" rtl="0" algn="l">
              <a:lnSpc>
                <a:spcPct val="150000"/>
              </a:lnSpc>
              <a:spcBef>
                <a:spcPts val="0"/>
              </a:spcBef>
              <a:spcAft>
                <a:spcPts val="0"/>
              </a:spcAft>
              <a:buSzPts val="1500"/>
              <a:buChar char="○"/>
            </a:pPr>
            <a:r>
              <a:rPr lang="en" sz="1500"/>
              <a:t>Membership inference attacks (more comprehensive)</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9" name="Shape 499"/>
        <p:cNvGrpSpPr/>
        <p:nvPr/>
      </p:nvGrpSpPr>
      <p:grpSpPr>
        <a:xfrm>
          <a:off x="0" y="0"/>
          <a:ext cx="0" cy="0"/>
          <a:chOff x="0" y="0"/>
          <a:chExt cx="0" cy="0"/>
        </a:xfrm>
      </p:grpSpPr>
      <p:sp>
        <p:nvSpPr>
          <p:cNvPr id="500" name="Google Shape;500;p58"/>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(6) Evaluation: </a:t>
            </a:r>
            <a:r>
              <a:rPr lang="en"/>
              <a:t>Fidelity</a:t>
            </a:r>
            <a:endParaRPr/>
          </a:p>
        </p:txBody>
      </p:sp>
      <p:cxnSp>
        <p:nvCxnSpPr>
          <p:cNvPr id="501" name="Google Shape;501;p58"/>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502" name="Google Shape;502;p58"/>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03" name="Google Shape;503;p58"/>
          <p:cNvSpPr txBox="1"/>
          <p:nvPr>
            <p:ph idx="1" type="body"/>
          </p:nvPr>
        </p:nvSpPr>
        <p:spPr>
          <a:xfrm>
            <a:off x="255975" y="1547275"/>
            <a:ext cx="8328300" cy="19626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lang="en" sz="1500"/>
              <a:t>Conditional generative adversarial network</a:t>
            </a:r>
            <a:endParaRPr sz="1500"/>
          </a:p>
          <a:p>
            <a:pPr indent="-323850" lvl="0" marL="457200" rtl="0" algn="l">
              <a:lnSpc>
                <a:spcPct val="150000"/>
              </a:lnSpc>
              <a:spcBef>
                <a:spcPts val="0"/>
              </a:spcBef>
              <a:spcAft>
                <a:spcPts val="0"/>
              </a:spcAft>
              <a:buSzPts val="1500"/>
              <a:buChar char="●"/>
            </a:pPr>
            <a:r>
              <a:rPr lang="en" sz="1500"/>
              <a:t>Uses 2 neural networks, the generator and the critic, to improve the synthetic data </a:t>
            </a:r>
            <a:endParaRPr sz="1500"/>
          </a:p>
          <a:p>
            <a:pPr indent="-323850" lvl="0" marL="457200" rtl="0" algn="l">
              <a:lnSpc>
                <a:spcPct val="150000"/>
              </a:lnSpc>
              <a:spcBef>
                <a:spcPts val="0"/>
              </a:spcBef>
              <a:spcAft>
                <a:spcPts val="0"/>
              </a:spcAft>
              <a:buSzPts val="1500"/>
              <a:buChar char="●"/>
            </a:pPr>
            <a:r>
              <a:rPr lang="en" sz="1500"/>
              <a:t>Learns distributions more accurately due to techniques like conditional generation and oversampling of rare categories </a:t>
            </a:r>
            <a:endParaRPr sz="1500"/>
          </a:p>
          <a:p>
            <a:pPr indent="-323850" lvl="0" marL="457200" rtl="0" algn="l">
              <a:lnSpc>
                <a:spcPct val="150000"/>
              </a:lnSpc>
              <a:spcBef>
                <a:spcPts val="0"/>
              </a:spcBef>
              <a:spcAft>
                <a:spcPts val="0"/>
              </a:spcAft>
              <a:buSzPts val="1500"/>
              <a:buChar char="●"/>
            </a:pPr>
            <a:r>
              <a:rPr lang="en" sz="1500"/>
              <a:t>Train a different model for each subset of data D1 - D6 and generate a sample of 10,000 rows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7" name="Shape 507"/>
        <p:cNvGrpSpPr/>
        <p:nvPr/>
      </p:nvGrpSpPr>
      <p:grpSpPr>
        <a:xfrm>
          <a:off x="0" y="0"/>
          <a:ext cx="0" cy="0"/>
          <a:chOff x="0" y="0"/>
          <a:chExt cx="0" cy="0"/>
        </a:xfrm>
      </p:grpSpPr>
      <p:sp>
        <p:nvSpPr>
          <p:cNvPr id="508" name="Google Shape;508;p59"/>
          <p:cNvSpPr txBox="1"/>
          <p:nvPr>
            <p:ph type="title"/>
          </p:nvPr>
        </p:nvSpPr>
        <p:spPr>
          <a:xfrm>
            <a:off x="256025" y="213150"/>
            <a:ext cx="5750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(6) Slide </a:t>
            </a:r>
            <a:r>
              <a:rPr lang="en"/>
              <a:t>noting high-level synth data evaluation </a:t>
            </a:r>
            <a:endParaRPr/>
          </a:p>
        </p:txBody>
      </p:sp>
      <p:sp>
        <p:nvSpPr>
          <p:cNvPr id="509" name="Google Shape;509;p5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
        <p:nvSpPr>
          <p:cNvPr id="510" name="Google Shape;510;p59"/>
          <p:cNvSpPr txBox="1"/>
          <p:nvPr>
            <p:ph idx="2" type="body"/>
          </p:nvPr>
        </p:nvSpPr>
        <p:spPr>
          <a:xfrm>
            <a:off x="256025" y="1510775"/>
            <a:ext cx="7401600" cy="36519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Char char="-"/>
            </a:pPr>
            <a:r>
              <a:rPr lang="en" sz="1300"/>
              <a:t>Fidelity Evaluation:</a:t>
            </a:r>
            <a:endParaRPr sz="1300"/>
          </a:p>
          <a:p>
            <a:pPr indent="-311150" lvl="1" marL="914400" rtl="0" algn="l">
              <a:spcBef>
                <a:spcPts val="0"/>
              </a:spcBef>
              <a:spcAft>
                <a:spcPts val="0"/>
              </a:spcAft>
              <a:buSzPts val="1300"/>
              <a:buChar char="-"/>
            </a:pPr>
            <a:r>
              <a:rPr lang="en" sz="1300"/>
              <a:t>Marginal dists can be estimated w/ total variational distance, correlations, and Cramer’s V</a:t>
            </a:r>
            <a:endParaRPr sz="1300"/>
          </a:p>
          <a:p>
            <a:pPr indent="-311150" lvl="1" marL="914400" rtl="0" algn="l">
              <a:spcBef>
                <a:spcPts val="0"/>
              </a:spcBef>
              <a:spcAft>
                <a:spcPts val="0"/>
              </a:spcAft>
              <a:buSzPts val="1300"/>
              <a:buChar char="-"/>
            </a:pPr>
            <a:r>
              <a:rPr lang="en" sz="1300"/>
              <a:t>Univariate Measures</a:t>
            </a:r>
            <a:endParaRPr sz="1300"/>
          </a:p>
          <a:p>
            <a:pPr indent="-311150" lvl="2" marL="1371600" rtl="0" algn="l">
              <a:spcBef>
                <a:spcPts val="0"/>
              </a:spcBef>
              <a:spcAft>
                <a:spcPts val="0"/>
              </a:spcAft>
              <a:buSzPts val="1300"/>
              <a:buChar char="-"/>
            </a:pPr>
            <a:r>
              <a:rPr lang="en" sz="1300"/>
              <a:t>mean, sd, skewness, etc</a:t>
            </a:r>
            <a:endParaRPr sz="1300"/>
          </a:p>
          <a:p>
            <a:pPr indent="-311150" lvl="2" marL="1371600" rtl="0" algn="l">
              <a:spcBef>
                <a:spcPts val="0"/>
              </a:spcBef>
              <a:spcAft>
                <a:spcPts val="0"/>
              </a:spcAft>
              <a:buSzPts val="1300"/>
              <a:buChar char="-"/>
            </a:pPr>
            <a:r>
              <a:rPr lang="en" sz="1300"/>
              <a:t>Chi-squared / total variation distance between empirical distributions</a:t>
            </a:r>
            <a:endParaRPr sz="1300"/>
          </a:p>
          <a:p>
            <a:pPr indent="-311150" lvl="1" marL="914400" rtl="0" algn="l">
              <a:spcBef>
                <a:spcPts val="0"/>
              </a:spcBef>
              <a:spcAft>
                <a:spcPts val="0"/>
              </a:spcAft>
              <a:buSzPts val="1300"/>
              <a:buChar char="-"/>
            </a:pPr>
            <a:r>
              <a:rPr lang="en" sz="1300"/>
              <a:t>Pairwise</a:t>
            </a:r>
            <a:endParaRPr sz="1300"/>
          </a:p>
          <a:p>
            <a:pPr indent="-311150" lvl="2" marL="1371600" rtl="0" algn="l">
              <a:spcBef>
                <a:spcPts val="0"/>
              </a:spcBef>
              <a:spcAft>
                <a:spcPts val="0"/>
              </a:spcAft>
              <a:buSzPts val="1300"/>
              <a:buChar char="-"/>
            </a:pPr>
            <a:r>
              <a:rPr lang="en" sz="1300"/>
              <a:t>Numeric-Numeric -&gt; matrix distances on between corr matrices</a:t>
            </a:r>
            <a:endParaRPr sz="1300"/>
          </a:p>
          <a:p>
            <a:pPr indent="-311150" lvl="2" marL="1371600" rtl="0" algn="l">
              <a:spcBef>
                <a:spcPts val="0"/>
              </a:spcBef>
              <a:spcAft>
                <a:spcPts val="0"/>
              </a:spcAft>
              <a:buSzPts val="1300"/>
              <a:buChar char="-"/>
            </a:pPr>
            <a:r>
              <a:rPr lang="en" sz="1300"/>
              <a:t>Categorical-Categorical -&gt; Cramer’s V</a:t>
            </a:r>
            <a:endParaRPr sz="1300"/>
          </a:p>
          <a:p>
            <a:pPr indent="-311150" lvl="1" marL="914400" rtl="0" algn="l">
              <a:spcBef>
                <a:spcPts val="0"/>
              </a:spcBef>
              <a:spcAft>
                <a:spcPts val="0"/>
              </a:spcAft>
              <a:buSzPts val="1300"/>
              <a:buChar char="-"/>
            </a:pPr>
            <a:r>
              <a:rPr lang="en" sz="1300"/>
              <a:t>Classifier Modeling e.g. RandomForestClassifier modeling whether synthetic or not</a:t>
            </a:r>
            <a:endParaRPr sz="1300"/>
          </a:p>
          <a:p>
            <a:pPr indent="-311150" lvl="2" marL="1371600" rtl="0" algn="l">
              <a:spcBef>
                <a:spcPts val="0"/>
              </a:spcBef>
              <a:spcAft>
                <a:spcPts val="0"/>
              </a:spcAft>
              <a:buSzPts val="1300"/>
              <a:buChar char="-"/>
            </a:pPr>
            <a:r>
              <a:rPr lang="en" sz="1300"/>
              <a:t>If close to random guessing, P and Q are similar</a:t>
            </a:r>
            <a:endParaRPr sz="1300"/>
          </a:p>
          <a:p>
            <a:pPr indent="-311150" lvl="1" marL="914400" rtl="0" algn="l">
              <a:spcBef>
                <a:spcPts val="0"/>
              </a:spcBef>
              <a:spcAft>
                <a:spcPts val="0"/>
              </a:spcAft>
              <a:buSzPts val="1300"/>
              <a:buChar char="-"/>
            </a:pPr>
            <a:r>
              <a:rPr lang="en" sz="1300"/>
              <a:t>PRD Precision-Recall on CTGAN and RTF separately</a:t>
            </a:r>
            <a:endParaRPr sz="1300"/>
          </a:p>
          <a:p>
            <a:pPr indent="-311150" lvl="2" marL="1371600" rtl="0" algn="l">
              <a:spcBef>
                <a:spcPts val="0"/>
              </a:spcBef>
              <a:spcAft>
                <a:spcPts val="0"/>
              </a:spcAft>
              <a:buSzPts val="1300"/>
              <a:buChar char="-"/>
            </a:pPr>
            <a:r>
              <a:rPr lang="en" sz="1300"/>
              <a:t>Drop to lower dimension space (PCA)</a:t>
            </a:r>
            <a:endParaRPr sz="1300"/>
          </a:p>
          <a:p>
            <a:pPr indent="-311150" lvl="1" marL="914400" rtl="0" algn="l">
              <a:spcBef>
                <a:spcPts val="0"/>
              </a:spcBef>
              <a:spcAft>
                <a:spcPts val="0"/>
              </a:spcAft>
              <a:buSzPts val="1300"/>
              <a:buChar char="-"/>
            </a:pPr>
            <a:r>
              <a:rPr lang="en" sz="1300"/>
              <a:t>How close is the data to the real data? </a:t>
            </a:r>
            <a:endParaRPr sz="1300"/>
          </a:p>
          <a:p>
            <a:pPr indent="0" lvl="0" marL="0" rtl="0" algn="l">
              <a:spcBef>
                <a:spcPts val="0"/>
              </a:spcBef>
              <a:spcAft>
                <a:spcPts val="0"/>
              </a:spcAft>
              <a:buNone/>
            </a:pPr>
            <a:r>
              <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0"/>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(6) Fidelity: Graphical Analysis</a:t>
            </a:r>
            <a:endParaRPr/>
          </a:p>
        </p:txBody>
      </p:sp>
      <p:sp>
        <p:nvSpPr>
          <p:cNvPr id="516" name="Google Shape;516;p60"/>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pic>
        <p:nvPicPr>
          <p:cNvPr id="517" name="Google Shape;517;p60"/>
          <p:cNvPicPr preferRelativeResize="0"/>
          <p:nvPr/>
        </p:nvPicPr>
        <p:blipFill>
          <a:blip r:embed="rId3">
            <a:alphaModFix/>
          </a:blip>
          <a:stretch>
            <a:fillRect/>
          </a:stretch>
        </p:blipFill>
        <p:spPr>
          <a:xfrm>
            <a:off x="1157137" y="1420600"/>
            <a:ext cx="2549980" cy="1631376"/>
          </a:xfrm>
          <a:prstGeom prst="rect">
            <a:avLst/>
          </a:prstGeom>
          <a:noFill/>
          <a:ln>
            <a:noFill/>
          </a:ln>
        </p:spPr>
      </p:pic>
      <p:pic>
        <p:nvPicPr>
          <p:cNvPr id="518" name="Google Shape;518;p60"/>
          <p:cNvPicPr preferRelativeResize="0"/>
          <p:nvPr/>
        </p:nvPicPr>
        <p:blipFill>
          <a:blip r:embed="rId4">
            <a:alphaModFix/>
          </a:blip>
          <a:stretch>
            <a:fillRect/>
          </a:stretch>
        </p:blipFill>
        <p:spPr>
          <a:xfrm>
            <a:off x="1170588" y="3264702"/>
            <a:ext cx="2523074" cy="1631376"/>
          </a:xfrm>
          <a:prstGeom prst="rect">
            <a:avLst/>
          </a:prstGeom>
          <a:noFill/>
          <a:ln>
            <a:noFill/>
          </a:ln>
        </p:spPr>
      </p:pic>
      <p:pic>
        <p:nvPicPr>
          <p:cNvPr id="519" name="Google Shape;519;p60"/>
          <p:cNvPicPr preferRelativeResize="0"/>
          <p:nvPr/>
        </p:nvPicPr>
        <p:blipFill>
          <a:blip r:embed="rId5">
            <a:alphaModFix/>
          </a:blip>
          <a:stretch>
            <a:fillRect/>
          </a:stretch>
        </p:blipFill>
        <p:spPr>
          <a:xfrm>
            <a:off x="4991875" y="1429197"/>
            <a:ext cx="2523075" cy="1614178"/>
          </a:xfrm>
          <a:prstGeom prst="rect">
            <a:avLst/>
          </a:prstGeom>
          <a:noFill/>
          <a:ln>
            <a:noFill/>
          </a:ln>
        </p:spPr>
      </p:pic>
      <p:pic>
        <p:nvPicPr>
          <p:cNvPr id="520" name="Google Shape;520;p60"/>
          <p:cNvPicPr preferRelativeResize="0"/>
          <p:nvPr/>
        </p:nvPicPr>
        <p:blipFill>
          <a:blip r:embed="rId6">
            <a:alphaModFix/>
          </a:blip>
          <a:stretch>
            <a:fillRect/>
          </a:stretch>
        </p:blipFill>
        <p:spPr>
          <a:xfrm>
            <a:off x="4978425" y="3264700"/>
            <a:ext cx="2549976" cy="16313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1"/>
          <p:cNvSpPr txBox="1"/>
          <p:nvPr>
            <p:ph type="title"/>
          </p:nvPr>
        </p:nvSpPr>
        <p:spPr>
          <a:xfrm>
            <a:off x="256025" y="213150"/>
            <a:ext cx="60174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(6) Fidelity: Total Variational Distance and Marginal Cramer’s V</a:t>
            </a:r>
            <a:endParaRPr/>
          </a:p>
        </p:txBody>
      </p:sp>
      <p:cxnSp>
        <p:nvCxnSpPr>
          <p:cNvPr id="526" name="Google Shape;526;p61"/>
          <p:cNvCxnSpPr/>
          <p:nvPr/>
        </p:nvCxnSpPr>
        <p:spPr>
          <a:xfrm flipH="1">
            <a:off x="4606273" y="1440600"/>
            <a:ext cx="6900" cy="3702900"/>
          </a:xfrm>
          <a:prstGeom prst="straightConnector1">
            <a:avLst/>
          </a:prstGeom>
          <a:noFill/>
          <a:ln cap="flat" cmpd="sng" w="9525">
            <a:solidFill>
              <a:schemeClr val="dk1"/>
            </a:solidFill>
            <a:prstDash val="solid"/>
            <a:round/>
            <a:headEnd len="med" w="med" type="none"/>
            <a:tailEnd len="med" w="med" type="none"/>
          </a:ln>
        </p:spPr>
      </p:cxnSp>
      <p:sp>
        <p:nvSpPr>
          <p:cNvPr id="527" name="Google Shape;527;p61"/>
          <p:cNvSpPr txBox="1"/>
          <p:nvPr/>
        </p:nvSpPr>
        <p:spPr>
          <a:xfrm>
            <a:off x="427625" y="1383350"/>
            <a:ext cx="3789600" cy="3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lt2"/>
                </a:solidFill>
                <a:latin typeface="Montserrat"/>
                <a:ea typeface="Montserrat"/>
                <a:cs typeface="Montserrat"/>
                <a:sym typeface="Montserrat"/>
              </a:rPr>
              <a:t>Numerical Features: Total Variational Distance</a:t>
            </a:r>
            <a:endParaRPr sz="1100" u="sng">
              <a:solidFill>
                <a:schemeClr val="lt2"/>
              </a:solidFill>
              <a:latin typeface="Montserrat"/>
              <a:ea typeface="Montserrat"/>
              <a:cs typeface="Montserrat"/>
              <a:sym typeface="Montserrat"/>
            </a:endParaRPr>
          </a:p>
        </p:txBody>
      </p:sp>
      <p:sp>
        <p:nvSpPr>
          <p:cNvPr id="528" name="Google Shape;528;p61"/>
          <p:cNvSpPr txBox="1"/>
          <p:nvPr/>
        </p:nvSpPr>
        <p:spPr>
          <a:xfrm>
            <a:off x="5647775" y="1383350"/>
            <a:ext cx="2450100" cy="3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lt2"/>
                </a:solidFill>
                <a:latin typeface="Montserrat"/>
                <a:ea typeface="Montserrat"/>
                <a:cs typeface="Montserrat"/>
                <a:sym typeface="Montserrat"/>
              </a:rPr>
              <a:t>Categorical Features: Cramer’s V</a:t>
            </a:r>
            <a:endParaRPr sz="1100" u="sng">
              <a:solidFill>
                <a:schemeClr val="lt2"/>
              </a:solidFill>
              <a:latin typeface="Montserrat"/>
              <a:ea typeface="Montserrat"/>
              <a:cs typeface="Montserrat"/>
              <a:sym typeface="Montserrat"/>
            </a:endParaRPr>
          </a:p>
        </p:txBody>
      </p:sp>
      <p:graphicFrame>
        <p:nvGraphicFramePr>
          <p:cNvPr id="529" name="Google Shape;529;p61"/>
          <p:cNvGraphicFramePr/>
          <p:nvPr/>
        </p:nvGraphicFramePr>
        <p:xfrm>
          <a:off x="653950" y="2227050"/>
          <a:ext cx="3000000" cy="3000000"/>
        </p:xfrm>
        <a:graphic>
          <a:graphicData uri="http://schemas.openxmlformats.org/drawingml/2006/table">
            <a:tbl>
              <a:tblPr>
                <a:noFill/>
                <a:tableStyleId>{38F6E047-CD46-4977-9190-7814317B4295}</a:tableStyleId>
              </a:tblPr>
              <a:tblGrid>
                <a:gridCol w="1136475"/>
                <a:gridCol w="1120425"/>
                <a:gridCol w="1128450"/>
              </a:tblGrid>
              <a:tr h="400925">
                <a:tc>
                  <a:txBody>
                    <a:bodyPr/>
                    <a:lstStyle/>
                    <a:p>
                      <a:pPr indent="0" lvl="0" marL="0" rtl="0" algn="l">
                        <a:spcBef>
                          <a:spcPts val="0"/>
                        </a:spcBef>
                        <a:spcAft>
                          <a:spcPts val="0"/>
                        </a:spcAft>
                        <a:buNone/>
                      </a:pPr>
                      <a:r>
                        <a:rPr lang="en" sz="1200"/>
                        <a:t>Feature</a:t>
                      </a:r>
                      <a:endParaRPr sz="1200"/>
                    </a:p>
                  </a:txBody>
                  <a:tcPr marT="91425" marB="91425" marR="91425" marL="91425"/>
                </a:tc>
                <a:tc>
                  <a:txBody>
                    <a:bodyPr/>
                    <a:lstStyle/>
                    <a:p>
                      <a:pPr indent="0" lvl="0" marL="0" rtl="0" algn="l">
                        <a:spcBef>
                          <a:spcPts val="0"/>
                        </a:spcBef>
                        <a:spcAft>
                          <a:spcPts val="0"/>
                        </a:spcAft>
                        <a:buNone/>
                      </a:pPr>
                      <a:r>
                        <a:rPr lang="en" sz="1200"/>
                        <a:t>TVD_CTGAN</a:t>
                      </a:r>
                      <a:endParaRPr sz="1200"/>
                    </a:p>
                  </a:txBody>
                  <a:tcPr marT="91425" marB="91425" marR="91425" marL="91425"/>
                </a:tc>
                <a:tc>
                  <a:txBody>
                    <a:bodyPr/>
                    <a:lstStyle/>
                    <a:p>
                      <a:pPr indent="0" lvl="0" marL="0" rtl="0" algn="l">
                        <a:spcBef>
                          <a:spcPts val="0"/>
                        </a:spcBef>
                        <a:spcAft>
                          <a:spcPts val="0"/>
                        </a:spcAft>
                        <a:buNone/>
                      </a:pPr>
                      <a:r>
                        <a:rPr lang="en" sz="1200"/>
                        <a:t>TVD_RTF</a:t>
                      </a:r>
                      <a:endParaRPr sz="1200"/>
                    </a:p>
                  </a:txBody>
                  <a:tcPr marT="91425" marB="91425" marR="91425" marL="91425"/>
                </a:tc>
              </a:tr>
              <a:tr h="400925">
                <a:tc>
                  <a:txBody>
                    <a:bodyPr/>
                    <a:lstStyle/>
                    <a:p>
                      <a:pPr indent="0" lvl="0" marL="0" rtl="0" algn="l">
                        <a:spcBef>
                          <a:spcPts val="0"/>
                        </a:spcBef>
                        <a:spcAft>
                          <a:spcPts val="0"/>
                        </a:spcAft>
                        <a:buNone/>
                      </a:pPr>
                      <a:r>
                        <a:rPr lang="en" sz="800"/>
                        <a:t>u_refreshTimes</a:t>
                      </a:r>
                      <a:endParaRPr sz="800"/>
                    </a:p>
                  </a:txBody>
                  <a:tcPr marT="91425" marB="91425" marR="91425" marL="91425"/>
                </a:tc>
                <a:tc>
                  <a:txBody>
                    <a:bodyPr/>
                    <a:lstStyle/>
                    <a:p>
                      <a:pPr indent="0" lvl="0" marL="0" rtl="0" algn="l">
                        <a:spcBef>
                          <a:spcPts val="0"/>
                        </a:spcBef>
                        <a:spcAft>
                          <a:spcPts val="0"/>
                        </a:spcAft>
                        <a:buNone/>
                      </a:pPr>
                      <a:r>
                        <a:rPr lang="en" sz="1000"/>
                        <a:t>0.101774</a:t>
                      </a:r>
                      <a:endParaRPr sz="1000"/>
                    </a:p>
                  </a:txBody>
                  <a:tcPr marT="91425" marB="91425" marR="91425" marL="91425"/>
                </a:tc>
                <a:tc>
                  <a:txBody>
                    <a:bodyPr/>
                    <a:lstStyle/>
                    <a:p>
                      <a:pPr indent="0" lvl="0" marL="0" rtl="0" algn="l">
                        <a:spcBef>
                          <a:spcPts val="0"/>
                        </a:spcBef>
                        <a:spcAft>
                          <a:spcPts val="0"/>
                        </a:spcAft>
                        <a:buNone/>
                      </a:pPr>
                      <a:r>
                        <a:rPr lang="en" sz="1000"/>
                        <a:t>0.032038</a:t>
                      </a:r>
                      <a:endParaRPr sz="1000"/>
                    </a:p>
                  </a:txBody>
                  <a:tcPr marT="91425" marB="91425" marR="91425" marL="91425"/>
                </a:tc>
              </a:tr>
              <a:tr h="400925">
                <a:tc>
                  <a:txBody>
                    <a:bodyPr/>
                    <a:lstStyle/>
                    <a:p>
                      <a:pPr indent="0" lvl="0" marL="0" rtl="0" algn="l">
                        <a:spcBef>
                          <a:spcPts val="0"/>
                        </a:spcBef>
                        <a:spcAft>
                          <a:spcPts val="0"/>
                        </a:spcAft>
                        <a:buNone/>
                      </a:pPr>
                      <a:r>
                        <a:rPr lang="en" sz="800"/>
                        <a:t>u_feedLifeCycle</a:t>
                      </a:r>
                      <a:endParaRPr sz="800"/>
                    </a:p>
                  </a:txBody>
                  <a:tcPr marT="91425" marB="91425" marR="91425" marL="91425"/>
                </a:tc>
                <a:tc>
                  <a:txBody>
                    <a:bodyPr/>
                    <a:lstStyle/>
                    <a:p>
                      <a:pPr indent="0" lvl="0" marL="0" rtl="0" algn="l">
                        <a:spcBef>
                          <a:spcPts val="0"/>
                        </a:spcBef>
                        <a:spcAft>
                          <a:spcPts val="0"/>
                        </a:spcAft>
                        <a:buNone/>
                      </a:pPr>
                      <a:r>
                        <a:rPr lang="en" sz="1000"/>
                        <a:t>0.098143</a:t>
                      </a:r>
                      <a:endParaRPr sz="1000"/>
                    </a:p>
                  </a:txBody>
                  <a:tcPr marT="91425" marB="91425" marR="91425" marL="91425"/>
                </a:tc>
                <a:tc>
                  <a:txBody>
                    <a:bodyPr/>
                    <a:lstStyle/>
                    <a:p>
                      <a:pPr indent="0" lvl="0" marL="0" rtl="0" algn="l">
                        <a:spcBef>
                          <a:spcPts val="0"/>
                        </a:spcBef>
                        <a:spcAft>
                          <a:spcPts val="0"/>
                        </a:spcAft>
                        <a:buNone/>
                      </a:pPr>
                      <a:r>
                        <a:rPr lang="en" sz="1000"/>
                        <a:t>0.014617</a:t>
                      </a:r>
                      <a:endParaRPr sz="1000"/>
                    </a:p>
                  </a:txBody>
                  <a:tcPr marT="91425" marB="91425" marR="91425" marL="91425"/>
                </a:tc>
              </a:tr>
              <a:tr h="448975">
                <a:tc>
                  <a:txBody>
                    <a:bodyPr/>
                    <a:lstStyle/>
                    <a:p>
                      <a:pPr indent="0" lvl="0" marL="0" rtl="0" algn="l">
                        <a:spcBef>
                          <a:spcPts val="0"/>
                        </a:spcBef>
                        <a:spcAft>
                          <a:spcPts val="0"/>
                        </a:spcAft>
                        <a:buNone/>
                      </a:pPr>
                      <a:r>
                        <a:rPr lang="en" sz="800"/>
                        <a:t>u_newsCatIntesrestST_count</a:t>
                      </a:r>
                      <a:endParaRPr sz="800"/>
                    </a:p>
                  </a:txBody>
                  <a:tcPr marT="91425" marB="91425" marR="91425" marL="91425"/>
                </a:tc>
                <a:tc>
                  <a:txBody>
                    <a:bodyPr/>
                    <a:lstStyle/>
                    <a:p>
                      <a:pPr indent="0" lvl="0" marL="0" rtl="0" algn="l">
                        <a:spcBef>
                          <a:spcPts val="0"/>
                        </a:spcBef>
                        <a:spcAft>
                          <a:spcPts val="0"/>
                        </a:spcAft>
                        <a:buNone/>
                      </a:pPr>
                      <a:r>
                        <a:rPr lang="en" sz="1000"/>
                        <a:t>0.093361</a:t>
                      </a:r>
                      <a:endParaRPr sz="1000"/>
                    </a:p>
                  </a:txBody>
                  <a:tcPr marT="91425" marB="91425" marR="91425" marL="91425"/>
                </a:tc>
                <a:tc>
                  <a:txBody>
                    <a:bodyPr/>
                    <a:lstStyle/>
                    <a:p>
                      <a:pPr indent="0" lvl="0" marL="0" rtl="0" algn="l">
                        <a:spcBef>
                          <a:spcPts val="0"/>
                        </a:spcBef>
                        <a:spcAft>
                          <a:spcPts val="0"/>
                        </a:spcAft>
                        <a:buNone/>
                      </a:pPr>
                      <a:r>
                        <a:rPr lang="en" sz="1000"/>
                        <a:t>0.014055</a:t>
                      </a:r>
                      <a:endParaRPr sz="1000"/>
                    </a:p>
                  </a:txBody>
                  <a:tcPr marT="91425" marB="91425" marR="91425" marL="91425"/>
                </a:tc>
              </a:tr>
              <a:tr h="400925">
                <a:tc>
                  <a:txBody>
                    <a:bodyPr/>
                    <a:lstStyle/>
                    <a:p>
                      <a:pPr indent="0" lvl="0" marL="0" rtl="0" algn="l">
                        <a:spcBef>
                          <a:spcPts val="0"/>
                        </a:spcBef>
                        <a:spcAft>
                          <a:spcPts val="0"/>
                        </a:spcAft>
                        <a:buNone/>
                      </a:pPr>
                      <a:r>
                        <a:rPr lang="en" sz="800"/>
                        <a:t>click_count_mean</a:t>
                      </a:r>
                      <a:endParaRPr sz="800"/>
                    </a:p>
                  </a:txBody>
                  <a:tcPr marT="91425" marB="91425" marR="91425" marL="91425"/>
                </a:tc>
                <a:tc>
                  <a:txBody>
                    <a:bodyPr/>
                    <a:lstStyle/>
                    <a:p>
                      <a:pPr indent="0" lvl="0" marL="0" rtl="0" algn="l">
                        <a:spcBef>
                          <a:spcPts val="0"/>
                        </a:spcBef>
                        <a:spcAft>
                          <a:spcPts val="0"/>
                        </a:spcAft>
                        <a:buNone/>
                      </a:pPr>
                      <a:r>
                        <a:rPr lang="en" sz="1000"/>
                        <a:t>0.377356</a:t>
                      </a:r>
                      <a:endParaRPr sz="1000"/>
                    </a:p>
                  </a:txBody>
                  <a:tcPr marT="91425" marB="91425" marR="91425" marL="91425"/>
                </a:tc>
                <a:tc>
                  <a:txBody>
                    <a:bodyPr/>
                    <a:lstStyle/>
                    <a:p>
                      <a:pPr indent="0" lvl="0" marL="0" rtl="0" algn="l">
                        <a:spcBef>
                          <a:spcPts val="0"/>
                        </a:spcBef>
                        <a:spcAft>
                          <a:spcPts val="0"/>
                        </a:spcAft>
                        <a:buNone/>
                      </a:pPr>
                      <a:r>
                        <a:rPr lang="en" sz="1000"/>
                        <a:t>0.087038</a:t>
                      </a:r>
                      <a:endParaRPr sz="1000"/>
                    </a:p>
                  </a:txBody>
                  <a:tcPr marT="91425" marB="91425" marR="91425" marL="91425"/>
                </a:tc>
              </a:tr>
              <a:tr h="400925">
                <a:tc>
                  <a:txBody>
                    <a:bodyPr/>
                    <a:lstStyle/>
                    <a:p>
                      <a:pPr indent="0" lvl="0" marL="0" rtl="0" algn="l">
                        <a:spcBef>
                          <a:spcPts val="0"/>
                        </a:spcBef>
                        <a:spcAft>
                          <a:spcPts val="0"/>
                        </a:spcAft>
                        <a:buNone/>
                      </a:pPr>
                      <a:r>
                        <a:rPr lang="en" sz="800"/>
                        <a:t>close_count_mean</a:t>
                      </a:r>
                      <a:endParaRPr sz="800"/>
                    </a:p>
                  </a:txBody>
                  <a:tcPr marT="91425" marB="91425" marR="91425" marL="91425"/>
                </a:tc>
                <a:tc>
                  <a:txBody>
                    <a:bodyPr/>
                    <a:lstStyle/>
                    <a:p>
                      <a:pPr indent="0" lvl="0" marL="0" rtl="0" algn="l">
                        <a:spcBef>
                          <a:spcPts val="0"/>
                        </a:spcBef>
                        <a:spcAft>
                          <a:spcPts val="0"/>
                        </a:spcAft>
                        <a:buNone/>
                      </a:pPr>
                      <a:r>
                        <a:rPr lang="en" sz="1000"/>
                        <a:t>0.037952</a:t>
                      </a:r>
                      <a:endParaRPr sz="1000"/>
                    </a:p>
                  </a:txBody>
                  <a:tcPr marT="91425" marB="91425" marR="91425" marL="91425"/>
                </a:tc>
                <a:tc>
                  <a:txBody>
                    <a:bodyPr/>
                    <a:lstStyle/>
                    <a:p>
                      <a:pPr indent="0" lvl="0" marL="0" rtl="0" algn="l">
                        <a:spcBef>
                          <a:spcPts val="0"/>
                        </a:spcBef>
                        <a:spcAft>
                          <a:spcPts val="0"/>
                        </a:spcAft>
                        <a:buNone/>
                      </a:pPr>
                      <a:r>
                        <a:rPr lang="en" sz="1000"/>
                        <a:t>0.008097</a:t>
                      </a:r>
                      <a:endParaRPr sz="1000"/>
                    </a:p>
                  </a:txBody>
                  <a:tcPr marT="91425" marB="91425" marR="91425" marL="91425"/>
                </a:tc>
              </a:tr>
            </a:tbl>
          </a:graphicData>
        </a:graphic>
      </p:graphicFrame>
      <p:graphicFrame>
        <p:nvGraphicFramePr>
          <p:cNvPr id="530" name="Google Shape;530;p61"/>
          <p:cNvGraphicFramePr/>
          <p:nvPr/>
        </p:nvGraphicFramePr>
        <p:xfrm>
          <a:off x="5180150" y="2227050"/>
          <a:ext cx="3000000" cy="3000000"/>
        </p:xfrm>
        <a:graphic>
          <a:graphicData uri="http://schemas.openxmlformats.org/drawingml/2006/table">
            <a:tbl>
              <a:tblPr>
                <a:noFill/>
                <a:tableStyleId>{38F6E047-CD46-4977-9190-7814317B4295}</a:tableStyleId>
              </a:tblPr>
              <a:tblGrid>
                <a:gridCol w="1136475"/>
                <a:gridCol w="1120425"/>
                <a:gridCol w="1128450"/>
              </a:tblGrid>
              <a:tr h="381000">
                <a:tc>
                  <a:txBody>
                    <a:bodyPr/>
                    <a:lstStyle/>
                    <a:p>
                      <a:pPr indent="0" lvl="0" marL="0" rtl="0" algn="l">
                        <a:spcBef>
                          <a:spcPts val="0"/>
                        </a:spcBef>
                        <a:spcAft>
                          <a:spcPts val="0"/>
                        </a:spcAft>
                        <a:buNone/>
                      </a:pPr>
                      <a:r>
                        <a:rPr lang="en" sz="1200"/>
                        <a:t>Feature</a:t>
                      </a:r>
                      <a:endParaRPr sz="1200"/>
                    </a:p>
                  </a:txBody>
                  <a:tcPr marT="91425" marB="91425" marR="91425" marL="91425"/>
                </a:tc>
                <a:tc>
                  <a:txBody>
                    <a:bodyPr/>
                    <a:lstStyle/>
                    <a:p>
                      <a:pPr indent="0" lvl="0" marL="0" rtl="0" algn="l">
                        <a:spcBef>
                          <a:spcPts val="0"/>
                        </a:spcBef>
                        <a:spcAft>
                          <a:spcPts val="0"/>
                        </a:spcAft>
                        <a:buNone/>
                      </a:pPr>
                      <a:r>
                        <a:rPr lang="en" sz="1200"/>
                        <a:t>CramersV </a:t>
                      </a:r>
                      <a:r>
                        <a:rPr lang="en" sz="1200"/>
                        <a:t>CTGAN</a:t>
                      </a:r>
                      <a:endParaRPr sz="1200"/>
                    </a:p>
                  </a:txBody>
                  <a:tcPr marT="91425" marB="91425" marR="91425" marL="91425"/>
                </a:tc>
                <a:tc>
                  <a:txBody>
                    <a:bodyPr/>
                    <a:lstStyle/>
                    <a:p>
                      <a:pPr indent="0" lvl="0" marL="0" rtl="0" algn="l">
                        <a:spcBef>
                          <a:spcPts val="0"/>
                        </a:spcBef>
                        <a:spcAft>
                          <a:spcPts val="0"/>
                        </a:spcAft>
                        <a:buNone/>
                      </a:pPr>
                      <a:r>
                        <a:rPr lang="en" sz="1200"/>
                        <a:t>CramersV </a:t>
                      </a:r>
                      <a:r>
                        <a:rPr lang="en" sz="1200"/>
                        <a:t>RTF</a:t>
                      </a:r>
                      <a:endParaRPr sz="1200"/>
                    </a:p>
                  </a:txBody>
                  <a:tcPr marT="91425" marB="91425" marR="91425" marL="91425"/>
                </a:tc>
              </a:tr>
              <a:tr h="381000">
                <a:tc>
                  <a:txBody>
                    <a:bodyPr/>
                    <a:lstStyle/>
                    <a:p>
                      <a:pPr indent="0" lvl="0" marL="0" rtl="0" algn="l">
                        <a:spcBef>
                          <a:spcPts val="0"/>
                        </a:spcBef>
                        <a:spcAft>
                          <a:spcPts val="0"/>
                        </a:spcAft>
                        <a:buNone/>
                      </a:pPr>
                      <a:r>
                        <a:rPr lang="en" sz="800"/>
                        <a:t>age</a:t>
                      </a:r>
                      <a:endParaRPr sz="800"/>
                    </a:p>
                  </a:txBody>
                  <a:tcPr marT="91425" marB="91425" marR="91425" marL="91425"/>
                </a:tc>
                <a:tc>
                  <a:txBody>
                    <a:bodyPr/>
                    <a:lstStyle/>
                    <a:p>
                      <a:pPr indent="0" lvl="0" marL="0" rtl="0" algn="l">
                        <a:spcBef>
                          <a:spcPts val="0"/>
                        </a:spcBef>
                        <a:spcAft>
                          <a:spcPts val="0"/>
                        </a:spcAft>
                        <a:buNone/>
                      </a:pPr>
                      <a:r>
                        <a:rPr lang="en" sz="1000"/>
                        <a:t>0.101708</a:t>
                      </a:r>
                      <a:endParaRPr sz="1000"/>
                    </a:p>
                  </a:txBody>
                  <a:tcPr marT="91425" marB="91425" marR="91425" marL="91425"/>
                </a:tc>
                <a:tc>
                  <a:txBody>
                    <a:bodyPr/>
                    <a:lstStyle/>
                    <a:p>
                      <a:pPr indent="0" lvl="0" marL="0" rtl="0" algn="l">
                        <a:spcBef>
                          <a:spcPts val="0"/>
                        </a:spcBef>
                        <a:spcAft>
                          <a:spcPts val="0"/>
                        </a:spcAft>
                        <a:buNone/>
                      </a:pPr>
                      <a:r>
                        <a:rPr lang="en" sz="1000"/>
                        <a:t>0.094325</a:t>
                      </a:r>
                      <a:endParaRPr sz="1000"/>
                    </a:p>
                  </a:txBody>
                  <a:tcPr marT="91425" marB="91425" marR="91425" marL="91425"/>
                </a:tc>
              </a:tr>
              <a:tr h="381000">
                <a:tc>
                  <a:txBody>
                    <a:bodyPr/>
                    <a:lstStyle/>
                    <a:p>
                      <a:pPr indent="0" lvl="0" marL="0" rtl="0" algn="l">
                        <a:spcBef>
                          <a:spcPts val="0"/>
                        </a:spcBef>
                        <a:spcAft>
                          <a:spcPts val="0"/>
                        </a:spcAft>
                        <a:buNone/>
                      </a:pPr>
                      <a:r>
                        <a:rPr lang="en" sz="800"/>
                        <a:t>gender</a:t>
                      </a:r>
                      <a:endParaRPr sz="800"/>
                    </a:p>
                  </a:txBody>
                  <a:tcPr marT="91425" marB="91425" marR="91425" marL="91425"/>
                </a:tc>
                <a:tc>
                  <a:txBody>
                    <a:bodyPr/>
                    <a:lstStyle/>
                    <a:p>
                      <a:pPr indent="0" lvl="0" marL="0" rtl="0" algn="l">
                        <a:spcBef>
                          <a:spcPts val="0"/>
                        </a:spcBef>
                        <a:spcAft>
                          <a:spcPts val="0"/>
                        </a:spcAft>
                        <a:buNone/>
                      </a:pPr>
                      <a:r>
                        <a:rPr lang="en" sz="1000"/>
                        <a:t>0.026075</a:t>
                      </a:r>
                      <a:endParaRPr sz="1000"/>
                    </a:p>
                  </a:txBody>
                  <a:tcPr marT="91425" marB="91425" marR="91425" marL="91425"/>
                </a:tc>
                <a:tc>
                  <a:txBody>
                    <a:bodyPr/>
                    <a:lstStyle/>
                    <a:p>
                      <a:pPr indent="0" lvl="0" marL="0" rtl="0" algn="l">
                        <a:spcBef>
                          <a:spcPts val="0"/>
                        </a:spcBef>
                        <a:spcAft>
                          <a:spcPts val="0"/>
                        </a:spcAft>
                        <a:buNone/>
                      </a:pPr>
                      <a:r>
                        <a:rPr lang="en" sz="1000"/>
                        <a:t>0.034176</a:t>
                      </a:r>
                      <a:endParaRPr sz="1000"/>
                    </a:p>
                  </a:txBody>
                  <a:tcPr marT="91425" marB="91425" marR="91425" marL="91425"/>
                </a:tc>
              </a:tr>
              <a:tr h="381000">
                <a:tc>
                  <a:txBody>
                    <a:bodyPr/>
                    <a:lstStyle/>
                    <a:p>
                      <a:pPr indent="0" lvl="0" marL="0" rtl="0" algn="l">
                        <a:spcBef>
                          <a:spcPts val="0"/>
                        </a:spcBef>
                        <a:spcAft>
                          <a:spcPts val="0"/>
                        </a:spcAft>
                        <a:buNone/>
                      </a:pPr>
                      <a:r>
                        <a:rPr lang="en" sz="800"/>
                        <a:t>city_rank</a:t>
                      </a:r>
                      <a:endParaRPr sz="800"/>
                    </a:p>
                  </a:txBody>
                  <a:tcPr marT="91425" marB="91425" marR="91425" marL="91425"/>
                </a:tc>
                <a:tc>
                  <a:txBody>
                    <a:bodyPr/>
                    <a:lstStyle/>
                    <a:p>
                      <a:pPr indent="0" lvl="0" marL="0" rtl="0" algn="l">
                        <a:spcBef>
                          <a:spcPts val="0"/>
                        </a:spcBef>
                        <a:spcAft>
                          <a:spcPts val="0"/>
                        </a:spcAft>
                        <a:buNone/>
                      </a:pPr>
                      <a:r>
                        <a:rPr lang="en" sz="1000"/>
                        <a:t>0.083767</a:t>
                      </a:r>
                      <a:endParaRPr sz="1000"/>
                    </a:p>
                  </a:txBody>
                  <a:tcPr marT="91425" marB="91425" marR="91425" marL="91425"/>
                </a:tc>
                <a:tc>
                  <a:txBody>
                    <a:bodyPr/>
                    <a:lstStyle/>
                    <a:p>
                      <a:pPr indent="0" lvl="0" marL="0" rtl="0" algn="l">
                        <a:spcBef>
                          <a:spcPts val="0"/>
                        </a:spcBef>
                        <a:spcAft>
                          <a:spcPts val="0"/>
                        </a:spcAft>
                        <a:buNone/>
                      </a:pPr>
                      <a:r>
                        <a:rPr lang="en" sz="1000"/>
                        <a:t>0.086042</a:t>
                      </a:r>
                      <a:endParaRPr sz="1000"/>
                    </a:p>
                  </a:txBody>
                  <a:tcPr marT="91425" marB="91425" marR="91425" marL="91425"/>
                </a:tc>
              </a:tr>
              <a:tr h="381000">
                <a:tc>
                  <a:txBody>
                    <a:bodyPr/>
                    <a:lstStyle/>
                    <a:p>
                      <a:pPr indent="0" lvl="0" marL="0" rtl="0" algn="l">
                        <a:spcBef>
                          <a:spcPts val="0"/>
                        </a:spcBef>
                        <a:spcAft>
                          <a:spcPts val="0"/>
                        </a:spcAft>
                        <a:buNone/>
                      </a:pPr>
                      <a:r>
                        <a:rPr lang="en" sz="800"/>
                        <a:t>d</a:t>
                      </a:r>
                      <a:r>
                        <a:rPr lang="en" sz="800"/>
                        <a:t>evice_size</a:t>
                      </a:r>
                      <a:endParaRPr sz="800"/>
                    </a:p>
                  </a:txBody>
                  <a:tcPr marT="91425" marB="91425" marR="91425" marL="91425"/>
                </a:tc>
                <a:tc>
                  <a:txBody>
                    <a:bodyPr/>
                    <a:lstStyle/>
                    <a:p>
                      <a:pPr indent="0" lvl="0" marL="0" rtl="0" algn="l">
                        <a:spcBef>
                          <a:spcPts val="0"/>
                        </a:spcBef>
                        <a:spcAft>
                          <a:spcPts val="0"/>
                        </a:spcAft>
                        <a:buNone/>
                      </a:pPr>
                      <a:r>
                        <a:rPr lang="en" sz="1000"/>
                        <a:t>0.350771</a:t>
                      </a:r>
                      <a:endParaRPr sz="1000"/>
                    </a:p>
                  </a:txBody>
                  <a:tcPr marT="91425" marB="91425" marR="91425" marL="91425"/>
                </a:tc>
                <a:tc>
                  <a:txBody>
                    <a:bodyPr/>
                    <a:lstStyle/>
                    <a:p>
                      <a:pPr indent="0" lvl="0" marL="0" rtl="0" algn="l">
                        <a:spcBef>
                          <a:spcPts val="0"/>
                        </a:spcBef>
                        <a:spcAft>
                          <a:spcPts val="0"/>
                        </a:spcAft>
                        <a:buNone/>
                      </a:pPr>
                      <a:r>
                        <a:rPr lang="en" sz="1000"/>
                        <a:t>0.368568</a:t>
                      </a:r>
                      <a:endParaRPr sz="1000"/>
                    </a:p>
                  </a:txBody>
                  <a:tcPr marT="91425" marB="91425" marR="91425" marL="91425"/>
                </a:tc>
              </a:tr>
              <a:tr h="381000">
                <a:tc>
                  <a:txBody>
                    <a:bodyPr/>
                    <a:lstStyle/>
                    <a:p>
                      <a:pPr indent="0" lvl="0" marL="0" rtl="0" algn="l">
                        <a:spcBef>
                          <a:spcPts val="0"/>
                        </a:spcBef>
                        <a:spcAft>
                          <a:spcPts val="0"/>
                        </a:spcAft>
                        <a:buNone/>
                      </a:pPr>
                      <a:r>
                        <a:rPr lang="en" sz="800"/>
                        <a:t>slot_id</a:t>
                      </a:r>
                      <a:endParaRPr sz="800"/>
                    </a:p>
                  </a:txBody>
                  <a:tcPr marT="91425" marB="91425" marR="91425" marL="91425"/>
                </a:tc>
                <a:tc>
                  <a:txBody>
                    <a:bodyPr/>
                    <a:lstStyle/>
                    <a:p>
                      <a:pPr indent="0" lvl="0" marL="0" rtl="0" algn="l">
                        <a:spcBef>
                          <a:spcPts val="0"/>
                        </a:spcBef>
                        <a:spcAft>
                          <a:spcPts val="0"/>
                        </a:spcAft>
                        <a:buNone/>
                      </a:pPr>
                      <a:r>
                        <a:rPr lang="en" sz="1000"/>
                        <a:t>0.464447</a:t>
                      </a:r>
                      <a:endParaRPr sz="1000"/>
                    </a:p>
                  </a:txBody>
                  <a:tcPr marT="91425" marB="91425" marR="91425" marL="91425"/>
                </a:tc>
                <a:tc>
                  <a:txBody>
                    <a:bodyPr/>
                    <a:lstStyle/>
                    <a:p>
                      <a:pPr indent="0" lvl="0" marL="0" rtl="0" algn="l">
                        <a:spcBef>
                          <a:spcPts val="0"/>
                        </a:spcBef>
                        <a:spcAft>
                          <a:spcPts val="0"/>
                        </a:spcAft>
                        <a:buNone/>
                      </a:pPr>
                      <a:r>
                        <a:rPr lang="en" sz="1000"/>
                        <a:t>0.448289</a:t>
                      </a:r>
                      <a:endParaRPr sz="10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2"/>
          <p:cNvSpPr txBox="1"/>
          <p:nvPr>
            <p:ph type="title"/>
          </p:nvPr>
        </p:nvSpPr>
        <p:spPr>
          <a:xfrm>
            <a:off x="256025" y="213150"/>
            <a:ext cx="5750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(6) Fidelity: Absolute Correlation Differences </a:t>
            </a:r>
            <a:endParaRPr/>
          </a:p>
        </p:txBody>
      </p:sp>
      <p:sp>
        <p:nvSpPr>
          <p:cNvPr id="536" name="Google Shape;536;p62"/>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pic>
        <p:nvPicPr>
          <p:cNvPr id="537" name="Google Shape;537;p62"/>
          <p:cNvPicPr preferRelativeResize="0"/>
          <p:nvPr/>
        </p:nvPicPr>
        <p:blipFill>
          <a:blip r:embed="rId3">
            <a:alphaModFix/>
          </a:blip>
          <a:stretch>
            <a:fillRect/>
          </a:stretch>
        </p:blipFill>
        <p:spPr>
          <a:xfrm>
            <a:off x="501413" y="1441288"/>
            <a:ext cx="3861425" cy="3361651"/>
          </a:xfrm>
          <a:prstGeom prst="rect">
            <a:avLst/>
          </a:prstGeom>
          <a:noFill/>
          <a:ln>
            <a:noFill/>
          </a:ln>
        </p:spPr>
      </p:pic>
      <p:pic>
        <p:nvPicPr>
          <p:cNvPr id="538" name="Google Shape;538;p62"/>
          <p:cNvPicPr preferRelativeResize="0"/>
          <p:nvPr/>
        </p:nvPicPr>
        <p:blipFill>
          <a:blip r:embed="rId4">
            <a:alphaModFix/>
          </a:blip>
          <a:stretch>
            <a:fillRect/>
          </a:stretch>
        </p:blipFill>
        <p:spPr>
          <a:xfrm>
            <a:off x="4890963" y="1441282"/>
            <a:ext cx="3861425" cy="33616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3"/>
          <p:cNvSpPr txBox="1"/>
          <p:nvPr>
            <p:ph type="title"/>
          </p:nvPr>
        </p:nvSpPr>
        <p:spPr>
          <a:xfrm>
            <a:off x="256025" y="213150"/>
            <a:ext cx="5750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(6) Fidelity: Random Forest Classifier</a:t>
            </a:r>
            <a:endParaRPr/>
          </a:p>
        </p:txBody>
      </p:sp>
      <p:sp>
        <p:nvSpPr>
          <p:cNvPr id="544" name="Google Shape;544;p63"/>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graphicFrame>
        <p:nvGraphicFramePr>
          <p:cNvPr id="545" name="Google Shape;545;p63"/>
          <p:cNvGraphicFramePr/>
          <p:nvPr/>
        </p:nvGraphicFramePr>
        <p:xfrm>
          <a:off x="952500" y="2455800"/>
          <a:ext cx="3000000" cy="3000000"/>
        </p:xfrm>
        <a:graphic>
          <a:graphicData uri="http://schemas.openxmlformats.org/drawingml/2006/table">
            <a:tbl>
              <a:tblPr>
                <a:noFill/>
                <a:tableStyleId>{38F6E047-CD46-4977-9190-7814317B4295}</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t>Label</a:t>
                      </a:r>
                      <a:endParaRPr/>
                    </a:p>
                  </a:txBody>
                  <a:tcPr marT="91425" marB="91425" marR="91425" marL="91425"/>
                </a:tc>
                <a:tc>
                  <a:txBody>
                    <a:bodyPr/>
                    <a:lstStyle/>
                    <a:p>
                      <a:pPr indent="0" lvl="0" marL="0" rtl="0" algn="l">
                        <a:spcBef>
                          <a:spcPts val="0"/>
                        </a:spcBef>
                        <a:spcAft>
                          <a:spcPts val="0"/>
                        </a:spcAft>
                        <a:buNone/>
                      </a:pPr>
                      <a:r>
                        <a:rPr lang="en"/>
                        <a:t>Precision</a:t>
                      </a:r>
                      <a:endParaRPr/>
                    </a:p>
                  </a:txBody>
                  <a:tcPr marT="91425" marB="91425" marR="91425" marL="91425"/>
                </a:tc>
                <a:tc>
                  <a:txBody>
                    <a:bodyPr/>
                    <a:lstStyle/>
                    <a:p>
                      <a:pPr indent="0" lvl="0" marL="0" rtl="0" algn="l">
                        <a:spcBef>
                          <a:spcPts val="0"/>
                        </a:spcBef>
                        <a:spcAft>
                          <a:spcPts val="0"/>
                        </a:spcAft>
                        <a:buNone/>
                      </a:pPr>
                      <a:r>
                        <a:rPr lang="en"/>
                        <a:t>Recall</a:t>
                      </a:r>
                      <a:endParaRPr/>
                    </a:p>
                  </a:txBody>
                  <a:tcPr marT="91425" marB="91425" marR="91425" marL="91425"/>
                </a:tc>
                <a:tc>
                  <a:txBody>
                    <a:bodyPr/>
                    <a:lstStyle/>
                    <a:p>
                      <a:pPr indent="0" lvl="0" marL="0" rtl="0" algn="l">
                        <a:spcBef>
                          <a:spcPts val="0"/>
                        </a:spcBef>
                        <a:spcAft>
                          <a:spcPts val="0"/>
                        </a:spcAft>
                        <a:buNone/>
                      </a:pPr>
                      <a:r>
                        <a:rPr lang="en"/>
                        <a:t>F1-Score</a:t>
                      </a:r>
                      <a:endParaRPr/>
                    </a:p>
                  </a:txBody>
                  <a:tcPr marT="91425" marB="91425" marR="91425" marL="91425"/>
                </a:tc>
                <a:tc>
                  <a:txBody>
                    <a:bodyPr/>
                    <a:lstStyle/>
                    <a:p>
                      <a:pPr indent="0" lvl="0" marL="0" rtl="0" algn="l">
                        <a:spcBef>
                          <a:spcPts val="0"/>
                        </a:spcBef>
                        <a:spcAft>
                          <a:spcPts val="0"/>
                        </a:spcAft>
                        <a:buNone/>
                      </a:pPr>
                      <a:r>
                        <a:rPr lang="en"/>
                        <a:t>Support</a:t>
                      </a:r>
                      <a:endParaRPr/>
                    </a:p>
                  </a:txBody>
                  <a:tcPr marT="91425" marB="91425" marR="91425" marL="91425"/>
                </a:tc>
              </a:tr>
              <a:tr h="381000">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0.78</a:t>
                      </a:r>
                      <a:endParaRPr/>
                    </a:p>
                  </a:txBody>
                  <a:tcPr marT="91425" marB="91425" marR="91425" marL="91425"/>
                </a:tc>
                <a:tc>
                  <a:txBody>
                    <a:bodyPr/>
                    <a:lstStyle/>
                    <a:p>
                      <a:pPr indent="0" lvl="0" marL="0" rtl="0" algn="l">
                        <a:spcBef>
                          <a:spcPts val="0"/>
                        </a:spcBef>
                        <a:spcAft>
                          <a:spcPts val="0"/>
                        </a:spcAft>
                        <a:buNone/>
                      </a:pPr>
                      <a:r>
                        <a:rPr lang="en"/>
                        <a:t>0.72</a:t>
                      </a:r>
                      <a:endParaRPr/>
                    </a:p>
                  </a:txBody>
                  <a:tcPr marT="91425" marB="91425" marR="91425" marL="91425"/>
                </a:tc>
                <a:tc>
                  <a:txBody>
                    <a:bodyPr/>
                    <a:lstStyle/>
                    <a:p>
                      <a:pPr indent="0" lvl="0" marL="0" rtl="0" algn="l">
                        <a:spcBef>
                          <a:spcPts val="0"/>
                        </a:spcBef>
                        <a:spcAft>
                          <a:spcPts val="0"/>
                        </a:spcAft>
                        <a:buNone/>
                      </a:pPr>
                      <a:r>
                        <a:rPr lang="en"/>
                        <a:t>0.75</a:t>
                      </a:r>
                      <a:endParaRPr/>
                    </a:p>
                  </a:txBody>
                  <a:tcPr marT="91425" marB="91425" marR="91425" marL="91425"/>
                </a:tc>
                <a:tc>
                  <a:txBody>
                    <a:bodyPr/>
                    <a:lstStyle/>
                    <a:p>
                      <a:pPr indent="0" lvl="0" marL="0" rtl="0" algn="l">
                        <a:spcBef>
                          <a:spcPts val="0"/>
                        </a:spcBef>
                        <a:spcAft>
                          <a:spcPts val="0"/>
                        </a:spcAft>
                        <a:buNone/>
                      </a:pPr>
                      <a:r>
                        <a:rPr lang="en"/>
                        <a:t>16447</a:t>
                      </a:r>
                      <a:endParaRPr/>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0.88</a:t>
                      </a:r>
                      <a:endParaRPr/>
                    </a:p>
                  </a:txBody>
                  <a:tcPr marT="91425" marB="91425" marR="91425" marL="91425"/>
                </a:tc>
                <a:tc>
                  <a:txBody>
                    <a:bodyPr/>
                    <a:lstStyle/>
                    <a:p>
                      <a:pPr indent="0" lvl="0" marL="0" rtl="0" algn="l">
                        <a:spcBef>
                          <a:spcPts val="0"/>
                        </a:spcBef>
                        <a:spcAft>
                          <a:spcPts val="0"/>
                        </a:spcAft>
                        <a:buNone/>
                      </a:pPr>
                      <a:r>
                        <a:rPr lang="en"/>
                        <a:t>0.91</a:t>
                      </a:r>
                      <a:endParaRPr/>
                    </a:p>
                  </a:txBody>
                  <a:tcPr marT="91425" marB="91425" marR="91425" marL="91425"/>
                </a:tc>
                <a:tc>
                  <a:txBody>
                    <a:bodyPr/>
                    <a:lstStyle/>
                    <a:p>
                      <a:pPr indent="0" lvl="0" marL="0" rtl="0" algn="l">
                        <a:spcBef>
                          <a:spcPts val="0"/>
                        </a:spcBef>
                        <a:spcAft>
                          <a:spcPts val="0"/>
                        </a:spcAft>
                        <a:buNone/>
                      </a:pPr>
                      <a:r>
                        <a:rPr lang="en"/>
                        <a:t>0.89</a:t>
                      </a:r>
                      <a:endParaRPr/>
                    </a:p>
                  </a:txBody>
                  <a:tcPr marT="91425" marB="91425" marR="91425" marL="91425"/>
                </a:tc>
                <a:tc>
                  <a:txBody>
                    <a:bodyPr/>
                    <a:lstStyle/>
                    <a:p>
                      <a:pPr indent="0" lvl="0" marL="0" rtl="0" algn="l">
                        <a:spcBef>
                          <a:spcPts val="0"/>
                        </a:spcBef>
                        <a:spcAft>
                          <a:spcPts val="0"/>
                        </a:spcAft>
                        <a:buNone/>
                      </a:pPr>
                      <a:r>
                        <a:rPr lang="en"/>
                        <a:t>36000</a:t>
                      </a:r>
                      <a:endParaRPr/>
                    </a:p>
                  </a:txBody>
                  <a:tcPr marT="91425" marB="91425" marR="91425" marL="91425"/>
                </a:tc>
              </a:tr>
            </a:tbl>
          </a:graphicData>
        </a:graphic>
      </p:graphicFrame>
      <p:sp>
        <p:nvSpPr>
          <p:cNvPr id="546" name="Google Shape;546;p63"/>
          <p:cNvSpPr txBox="1"/>
          <p:nvPr/>
        </p:nvSpPr>
        <p:spPr>
          <a:xfrm>
            <a:off x="1987750" y="1732450"/>
            <a:ext cx="52827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lt2"/>
                </a:solidFill>
                <a:latin typeface="Montserrat"/>
                <a:ea typeface="Montserrat"/>
                <a:cs typeface="Montserrat"/>
                <a:sym typeface="Montserrat"/>
              </a:rPr>
              <a:t>Detection of Synthetic Data Classification Report</a:t>
            </a:r>
            <a:endParaRPr sz="1600" u="sng">
              <a:solidFill>
                <a:schemeClr val="lt2"/>
              </a:solidFill>
              <a:latin typeface="Montserrat"/>
              <a:ea typeface="Montserrat"/>
              <a:cs typeface="Montserrat"/>
              <a:sym typeface="Montserrat"/>
            </a:endParaRPr>
          </a:p>
        </p:txBody>
      </p:sp>
      <p:sp>
        <p:nvSpPr>
          <p:cNvPr id="547" name="Google Shape;547;p63"/>
          <p:cNvSpPr txBox="1"/>
          <p:nvPr/>
        </p:nvSpPr>
        <p:spPr>
          <a:xfrm>
            <a:off x="3379400" y="4018725"/>
            <a:ext cx="2275500" cy="6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2"/>
                </a:solidFill>
                <a:latin typeface="Montserrat"/>
                <a:ea typeface="Montserrat"/>
                <a:cs typeface="Montserrat"/>
                <a:sym typeface="Montserrat"/>
              </a:rPr>
              <a:t>Accuracy Score:</a:t>
            </a:r>
            <a:r>
              <a:rPr lang="en" sz="1300">
                <a:solidFill>
                  <a:schemeClr val="lt2"/>
                </a:solidFill>
                <a:latin typeface="Montserrat"/>
                <a:ea typeface="Montserrat"/>
                <a:cs typeface="Montserrat"/>
                <a:sym typeface="Montserrat"/>
              </a:rPr>
              <a:t> 0.85067</a:t>
            </a:r>
            <a:endParaRPr sz="1300">
              <a:solidFill>
                <a:schemeClr val="lt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1" name="Shape 551"/>
        <p:cNvGrpSpPr/>
        <p:nvPr/>
      </p:nvGrpSpPr>
      <p:grpSpPr>
        <a:xfrm>
          <a:off x="0" y="0"/>
          <a:ext cx="0" cy="0"/>
          <a:chOff x="0" y="0"/>
          <a:chExt cx="0" cy="0"/>
        </a:xfrm>
      </p:grpSpPr>
      <p:sp>
        <p:nvSpPr>
          <p:cNvPr id="552" name="Google Shape;552;p64"/>
          <p:cNvSpPr txBox="1"/>
          <p:nvPr>
            <p:ph type="title"/>
          </p:nvPr>
        </p:nvSpPr>
        <p:spPr>
          <a:xfrm>
            <a:off x="256025" y="213150"/>
            <a:ext cx="5750100" cy="124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Slide noting high-level synth data evaluation </a:t>
            </a:r>
            <a:endParaRPr/>
          </a:p>
          <a:p>
            <a:pPr indent="0" lvl="0" marL="0" rtl="0" algn="l">
              <a:spcBef>
                <a:spcPts val="0"/>
              </a:spcBef>
              <a:spcAft>
                <a:spcPts val="0"/>
              </a:spcAft>
              <a:buNone/>
            </a:pPr>
            <a:r>
              <a:t/>
            </a:r>
            <a:endParaRPr/>
          </a:p>
        </p:txBody>
      </p:sp>
      <p:sp>
        <p:nvSpPr>
          <p:cNvPr id="553" name="Google Shape;553;p64"/>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54" name="Google Shape;554;p64"/>
          <p:cNvSpPr txBox="1"/>
          <p:nvPr/>
        </p:nvSpPr>
        <p:spPr>
          <a:xfrm>
            <a:off x="256025" y="1405375"/>
            <a:ext cx="7799100" cy="26859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Utility Evaluation: </a:t>
            </a:r>
            <a:endParaRPr sz="1300">
              <a:solidFill>
                <a:schemeClr val="lt2"/>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Choosing</a:t>
            </a:r>
            <a:r>
              <a:rPr lang="en" sz="1300">
                <a:solidFill>
                  <a:schemeClr val="lt2"/>
                </a:solidFill>
                <a:latin typeface="Montserrat"/>
                <a:ea typeface="Montserrat"/>
                <a:cs typeface="Montserrat"/>
                <a:sym typeface="Montserrat"/>
              </a:rPr>
              <a:t> downstream task (already doing, </a:t>
            </a:r>
            <a:r>
              <a:rPr lang="en" sz="1300">
                <a:solidFill>
                  <a:schemeClr val="lt2"/>
                </a:solidFill>
                <a:latin typeface="Montserrat"/>
                <a:ea typeface="Montserrat"/>
                <a:cs typeface="Montserrat"/>
                <a:sym typeface="Montserrat"/>
              </a:rPr>
              <a:t>predicting classification 1/0)</a:t>
            </a:r>
            <a:endParaRPr sz="1300">
              <a:solidFill>
                <a:schemeClr val="lt2"/>
              </a:solidFill>
              <a:latin typeface="Montserrat"/>
              <a:ea typeface="Montserrat"/>
              <a:cs typeface="Montserrat"/>
              <a:sym typeface="Montserrat"/>
            </a:endParaRPr>
          </a:p>
          <a:p>
            <a:pPr indent="-311150" lvl="2" marL="13716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Test different levels of synthetic data inclusion</a:t>
            </a:r>
            <a:endParaRPr sz="1300">
              <a:solidFill>
                <a:schemeClr val="lt2"/>
              </a:solidFill>
              <a:latin typeface="Montserrat"/>
              <a:ea typeface="Montserrat"/>
              <a:cs typeface="Montserrat"/>
              <a:sym typeface="Montserrat"/>
            </a:endParaRPr>
          </a:p>
          <a:p>
            <a:pPr indent="-311150" lvl="2" marL="13716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ALSO, train on synthetic, test on real</a:t>
            </a:r>
            <a:endParaRPr sz="1300">
              <a:solidFill>
                <a:schemeClr val="lt2"/>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Model Selection → Taking many models and seeing how introduction of synth data changes optimal model</a:t>
            </a:r>
            <a:endParaRPr sz="1300">
              <a:solidFill>
                <a:schemeClr val="lt2"/>
              </a:solidFill>
              <a:latin typeface="Montserrat"/>
              <a:ea typeface="Montserrat"/>
              <a:cs typeface="Montserrat"/>
              <a:sym typeface="Montserrat"/>
            </a:endParaRPr>
          </a:p>
          <a:p>
            <a:pPr indent="-311150" lvl="2" marL="13716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Rank by performance</a:t>
            </a:r>
            <a:endParaRPr sz="1300">
              <a:solidFill>
                <a:schemeClr val="lt2"/>
              </a:solidFill>
              <a:latin typeface="Montserrat"/>
              <a:ea typeface="Montserrat"/>
              <a:cs typeface="Montserrat"/>
              <a:sym typeface="Montserrat"/>
            </a:endParaRPr>
          </a:p>
          <a:p>
            <a:pPr indent="-311150" lvl="2" marL="13716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If performance is consistent across different synth data injection levels, </a:t>
            </a:r>
            <a:r>
              <a:rPr b="1" lang="en" sz="1300">
                <a:solidFill>
                  <a:schemeClr val="lt2"/>
                </a:solidFill>
                <a:latin typeface="Montserrat"/>
                <a:ea typeface="Montserrat"/>
                <a:cs typeface="Montserrat"/>
                <a:sym typeface="Montserrat"/>
              </a:rPr>
              <a:t>can actually use</a:t>
            </a:r>
            <a:r>
              <a:rPr lang="en" sz="1300">
                <a:solidFill>
                  <a:schemeClr val="lt2"/>
                </a:solidFill>
                <a:latin typeface="Montserrat"/>
                <a:ea typeface="Montserrat"/>
                <a:cs typeface="Montserrat"/>
                <a:sym typeface="Montserrat"/>
              </a:rPr>
              <a:t> synth data for true predictive modeling</a:t>
            </a:r>
            <a:endParaRPr sz="1300">
              <a:solidFill>
                <a:schemeClr val="lt2"/>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Utility-interpretability trade off</a:t>
            </a:r>
            <a:endParaRPr sz="1300">
              <a:solidFill>
                <a:schemeClr val="lt2"/>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lt2"/>
              </a:buClr>
              <a:buSzPts val="1300"/>
              <a:buFont typeface="Montserrat"/>
              <a:buChar char="-"/>
            </a:pPr>
            <a:r>
              <a:rPr lang="en" sz="1300">
                <a:solidFill>
                  <a:schemeClr val="lt2"/>
                </a:solidFill>
                <a:latin typeface="Montserrat"/>
                <a:ea typeface="Montserrat"/>
                <a:cs typeface="Montserrat"/>
                <a:sym typeface="Montserrat"/>
              </a:rPr>
              <a:t>How useful is the data for a task? </a:t>
            </a:r>
            <a:endParaRPr sz="1300">
              <a:solidFill>
                <a:schemeClr val="lt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5"/>
          <p:cNvSpPr txBox="1"/>
          <p:nvPr>
            <p:ph type="title"/>
          </p:nvPr>
        </p:nvSpPr>
        <p:spPr>
          <a:xfrm>
            <a:off x="256025" y="213150"/>
            <a:ext cx="68838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Utility: Modeling Pipeline Overview</a:t>
            </a:r>
            <a:endParaRPr/>
          </a:p>
        </p:txBody>
      </p:sp>
      <p:sp>
        <p:nvSpPr>
          <p:cNvPr id="560" name="Google Shape;560;p65"/>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61" name="Google Shape;561;p65"/>
          <p:cNvSpPr txBox="1"/>
          <p:nvPr>
            <p:ph idx="1" type="body"/>
          </p:nvPr>
        </p:nvSpPr>
        <p:spPr>
          <a:xfrm>
            <a:off x="255975" y="1547275"/>
            <a:ext cx="8364900" cy="19626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b="1" lang="en" sz="1500">
                <a:solidFill>
                  <a:srgbClr val="000000"/>
                </a:solidFill>
              </a:rPr>
              <a:t>Goal:</a:t>
            </a:r>
            <a:r>
              <a:rPr lang="en" sz="1500">
                <a:solidFill>
                  <a:srgbClr val="000000"/>
                </a:solidFill>
              </a:rPr>
              <a:t> Compare utility of CTGAN vs RealTabFormer synthetic data</a:t>
            </a:r>
            <a:endParaRPr sz="1500">
              <a:solidFill>
                <a:srgbClr val="000000"/>
              </a:solidFill>
            </a:endParaRPr>
          </a:p>
          <a:p>
            <a:pPr indent="-323850" lvl="0" marL="457200" rtl="0" algn="l">
              <a:lnSpc>
                <a:spcPct val="150000"/>
              </a:lnSpc>
              <a:spcBef>
                <a:spcPts val="0"/>
              </a:spcBef>
              <a:spcAft>
                <a:spcPts val="0"/>
              </a:spcAft>
              <a:buSzPts val="1500"/>
              <a:buChar char="●"/>
            </a:pPr>
            <a:r>
              <a:rPr b="1" lang="en" sz="1500">
                <a:solidFill>
                  <a:srgbClr val="000000"/>
                </a:solidFill>
              </a:rPr>
              <a:t>Two identical pipelines:</a:t>
            </a:r>
            <a:r>
              <a:rPr lang="en" sz="1500">
                <a:solidFill>
                  <a:srgbClr val="000000"/>
                </a:solidFill>
              </a:rPr>
              <a:t> Same preprocessing, models, ratios</a:t>
            </a:r>
            <a:endParaRPr sz="1500">
              <a:solidFill>
                <a:srgbClr val="000000"/>
              </a:solidFill>
            </a:endParaRPr>
          </a:p>
          <a:p>
            <a:pPr indent="-323850" lvl="0" marL="457200" rtl="0" algn="l">
              <a:lnSpc>
                <a:spcPct val="150000"/>
              </a:lnSpc>
              <a:spcBef>
                <a:spcPts val="0"/>
              </a:spcBef>
              <a:spcAft>
                <a:spcPts val="0"/>
              </a:spcAft>
              <a:buSzPts val="1500"/>
              <a:buChar char="●"/>
            </a:pPr>
            <a:r>
              <a:rPr b="1" lang="en" sz="1500">
                <a:solidFill>
                  <a:srgbClr val="000000"/>
                </a:solidFill>
              </a:rPr>
              <a:t>Data:</a:t>
            </a:r>
            <a:r>
              <a:rPr lang="en" sz="1500">
                <a:solidFill>
                  <a:srgbClr val="000000"/>
                </a:solidFill>
              </a:rPr>
              <a:t> 54k real (60% train, 20% val, 20% test) + 60k synthetic (D1-D6 per generator)</a:t>
            </a:r>
            <a:endParaRPr sz="1500">
              <a:solidFill>
                <a:srgbClr val="000000"/>
              </a:solidFill>
            </a:endParaRPr>
          </a:p>
          <a:p>
            <a:pPr indent="-323850" lvl="0" marL="457200" rtl="0" algn="l">
              <a:lnSpc>
                <a:spcPct val="150000"/>
              </a:lnSpc>
              <a:spcBef>
                <a:spcPts val="0"/>
              </a:spcBef>
              <a:spcAft>
                <a:spcPts val="0"/>
              </a:spcAft>
              <a:buSzPts val="1500"/>
              <a:buChar char="●"/>
            </a:pPr>
            <a:r>
              <a:rPr b="1" lang="en" sz="1500">
                <a:solidFill>
                  <a:srgbClr val="000000"/>
                </a:solidFill>
              </a:rPr>
              <a:t>Models:</a:t>
            </a:r>
            <a:r>
              <a:rPr lang="en" sz="1500">
                <a:solidFill>
                  <a:srgbClr val="000000"/>
                </a:solidFill>
              </a:rPr>
              <a:t> L1 Logistic Regression and XGBoost</a:t>
            </a:r>
            <a:endParaRPr sz="1500">
              <a:solidFill>
                <a:srgbClr val="000000"/>
              </a:solidFill>
            </a:endParaRPr>
          </a:p>
          <a:p>
            <a:pPr indent="-323850" lvl="0" marL="457200" rtl="0" algn="l">
              <a:lnSpc>
                <a:spcPct val="150000"/>
              </a:lnSpc>
              <a:spcBef>
                <a:spcPts val="0"/>
              </a:spcBef>
              <a:spcAft>
                <a:spcPts val="0"/>
              </a:spcAft>
              <a:buSzPts val="1500"/>
              <a:buChar char="●"/>
            </a:pPr>
            <a:r>
              <a:rPr b="1" lang="en" sz="1500">
                <a:solidFill>
                  <a:srgbClr val="000000"/>
                </a:solidFill>
              </a:rPr>
              <a:t>Experiments:</a:t>
            </a:r>
            <a:r>
              <a:rPr lang="en" sz="1500">
                <a:solidFill>
                  <a:srgbClr val="000000"/>
                </a:solidFill>
              </a:rPr>
              <a:t> Real-only, Synthetic-only, Mixed (0.10×–1.64×)</a:t>
            </a:r>
            <a:endParaRPr sz="1500">
              <a:solidFill>
                <a:srgbClr val="000000"/>
              </a:solidFill>
            </a:endParaRPr>
          </a:p>
          <a:p>
            <a:pPr indent="-323850" lvl="0" marL="457200" rtl="0" algn="l">
              <a:lnSpc>
                <a:spcPct val="150000"/>
              </a:lnSpc>
              <a:spcBef>
                <a:spcPts val="0"/>
              </a:spcBef>
              <a:spcAft>
                <a:spcPts val="0"/>
              </a:spcAft>
              <a:buSzPts val="1500"/>
              <a:buChar char="●"/>
            </a:pPr>
            <a:r>
              <a:rPr b="1" lang="en" sz="1500">
                <a:solidFill>
                  <a:srgbClr val="000000"/>
                </a:solidFill>
              </a:rPr>
              <a:t>Evaluation:</a:t>
            </a:r>
            <a:r>
              <a:rPr lang="en" sz="1500">
                <a:solidFill>
                  <a:srgbClr val="000000"/>
                </a:solidFill>
              </a:rPr>
              <a:t> AUC and PR-AUC (test set)</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6"/>
          <p:cNvSpPr txBox="1"/>
          <p:nvPr>
            <p:ph type="title"/>
          </p:nvPr>
        </p:nvSpPr>
        <p:spPr>
          <a:xfrm>
            <a:off x="256025" y="213150"/>
            <a:ext cx="69468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Logistic Regression Preprocessing</a:t>
            </a:r>
            <a:endParaRPr/>
          </a:p>
        </p:txBody>
      </p:sp>
      <p:sp>
        <p:nvSpPr>
          <p:cNvPr id="567" name="Google Shape;567;p66"/>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68" name="Google Shape;568;p66"/>
          <p:cNvSpPr txBox="1"/>
          <p:nvPr>
            <p:ph idx="1" type="body"/>
          </p:nvPr>
        </p:nvSpPr>
        <p:spPr>
          <a:xfrm>
            <a:off x="255975" y="1547275"/>
            <a:ext cx="8364900" cy="1569900"/>
          </a:xfrm>
          <a:prstGeom prst="rect">
            <a:avLst/>
          </a:prstGeom>
        </p:spPr>
        <p:txBody>
          <a:bodyPr anchorCtr="0" anchor="t" bIns="0" lIns="0" spcFirstLastPara="1" rIns="0" wrap="square" tIns="0">
            <a:spAutoFit/>
          </a:bodyPr>
          <a:lstStyle/>
          <a:p>
            <a:pPr indent="-304800" lvl="0" marL="457200" rtl="0" algn="l">
              <a:lnSpc>
                <a:spcPct val="150000"/>
              </a:lnSpc>
              <a:spcBef>
                <a:spcPts val="0"/>
              </a:spcBef>
              <a:spcAft>
                <a:spcPts val="0"/>
              </a:spcAft>
              <a:buClr>
                <a:srgbClr val="000000"/>
              </a:buClr>
              <a:buSzPts val="1200"/>
              <a:buChar char="●"/>
            </a:pPr>
            <a:r>
              <a:rPr lang="en" sz="1200">
                <a:solidFill>
                  <a:srgbClr val="000000"/>
                </a:solidFill>
              </a:rPr>
              <a:t>Numerical features → StandardScaler</a:t>
            </a:r>
            <a:endParaRPr sz="1200">
              <a:solidFill>
                <a:srgbClr val="000000"/>
              </a:solidFill>
            </a:endParaRPr>
          </a:p>
          <a:p>
            <a:pPr indent="-304800" lvl="0" marL="457200" rtl="0" algn="l">
              <a:lnSpc>
                <a:spcPct val="150000"/>
              </a:lnSpc>
              <a:spcBef>
                <a:spcPts val="0"/>
              </a:spcBef>
              <a:spcAft>
                <a:spcPts val="0"/>
              </a:spcAft>
              <a:buClr>
                <a:srgbClr val="000000"/>
              </a:buClr>
              <a:buSzPts val="1200"/>
              <a:buChar char="●"/>
            </a:pPr>
            <a:r>
              <a:rPr lang="en" sz="1200">
                <a:solidFill>
                  <a:srgbClr val="000000"/>
                </a:solidFill>
              </a:rPr>
              <a:t>Low-cardinality features → One-Hot Encoding</a:t>
            </a:r>
            <a:endParaRPr sz="1200">
              <a:solidFill>
                <a:srgbClr val="000000"/>
              </a:solidFill>
            </a:endParaRPr>
          </a:p>
          <a:p>
            <a:pPr indent="-304800" lvl="0" marL="457200" rtl="0" algn="l">
              <a:lnSpc>
                <a:spcPct val="150000"/>
              </a:lnSpc>
              <a:spcBef>
                <a:spcPts val="0"/>
              </a:spcBef>
              <a:spcAft>
                <a:spcPts val="0"/>
              </a:spcAft>
              <a:buClr>
                <a:srgbClr val="000000"/>
              </a:buClr>
              <a:buSzPts val="1200"/>
              <a:buChar char="●"/>
            </a:pPr>
            <a:r>
              <a:rPr lang="en" sz="1200">
                <a:solidFill>
                  <a:srgbClr val="000000"/>
                </a:solidFill>
              </a:rPr>
              <a:t>High-cardinality features → Target Encoding:</a:t>
            </a:r>
            <a:endParaRPr sz="1200">
              <a:solidFill>
                <a:srgbClr val="000000"/>
              </a:solidFill>
            </a:endParaRPr>
          </a:p>
          <a:p>
            <a:pPr indent="-304800" lvl="1" marL="1371600" rtl="0" algn="l">
              <a:lnSpc>
                <a:spcPct val="150000"/>
              </a:lnSpc>
              <a:spcBef>
                <a:spcPts val="0"/>
              </a:spcBef>
              <a:spcAft>
                <a:spcPts val="0"/>
              </a:spcAft>
              <a:buClr>
                <a:srgbClr val="000000"/>
              </a:buClr>
              <a:buSzPts val="1200"/>
              <a:buChar char="○"/>
            </a:pPr>
            <a:r>
              <a:rPr lang="en" sz="1200">
                <a:solidFill>
                  <a:srgbClr val="000000"/>
                </a:solidFill>
              </a:rPr>
              <a:t>Minimum 20 unique values per feature</a:t>
            </a:r>
            <a:endParaRPr sz="1200">
              <a:solidFill>
                <a:srgbClr val="000000"/>
              </a:solidFill>
            </a:endParaRPr>
          </a:p>
          <a:p>
            <a:pPr indent="-304800" lvl="1" marL="1371600" rtl="0" algn="l">
              <a:lnSpc>
                <a:spcPct val="150000"/>
              </a:lnSpc>
              <a:spcBef>
                <a:spcPts val="0"/>
              </a:spcBef>
              <a:spcAft>
                <a:spcPts val="0"/>
              </a:spcAft>
              <a:buClr>
                <a:srgbClr val="000000"/>
              </a:buClr>
              <a:buSzPts val="1200"/>
              <a:buChar char="○"/>
            </a:pPr>
            <a:r>
              <a:rPr lang="en" sz="1200">
                <a:solidFill>
                  <a:srgbClr val="000000"/>
                </a:solidFill>
              </a:rPr>
              <a:t>Smoothing (Pulls value toward global mean)</a:t>
            </a:r>
            <a:endParaRPr sz="1200">
              <a:solidFill>
                <a:srgbClr val="000000"/>
              </a:solidFill>
            </a:endParaRPr>
          </a:p>
          <a:p>
            <a:pPr indent="-298450" lvl="1" marL="1371600" rtl="0" algn="l">
              <a:spcBef>
                <a:spcPts val="0"/>
              </a:spcBef>
              <a:spcAft>
                <a:spcPts val="0"/>
              </a:spcAft>
              <a:buClr>
                <a:srgbClr val="000000"/>
              </a:buClr>
              <a:buSzPts val="1100"/>
              <a:buFont typeface="Arial"/>
              <a:buChar char="○"/>
            </a:pPr>
            <a:r>
              <a:rPr lang="en" sz="1200">
                <a:solidFill>
                  <a:srgbClr val="000000"/>
                </a:solidFill>
              </a:rPr>
              <a:t>Clipping to ±3σ (Prevents any encoded value from going outside a realistic range )</a:t>
            </a:r>
            <a:endParaRPr sz="1200">
              <a:solidFill>
                <a:srgbClr val="000000"/>
              </a:solidFill>
            </a:endParaRPr>
          </a:p>
        </p:txBody>
      </p:sp>
      <p:pic>
        <p:nvPicPr>
          <p:cNvPr id="569" name="Google Shape;569;p66"/>
          <p:cNvPicPr preferRelativeResize="0"/>
          <p:nvPr/>
        </p:nvPicPr>
        <p:blipFill>
          <a:blip r:embed="rId3">
            <a:alphaModFix/>
          </a:blip>
          <a:stretch>
            <a:fillRect/>
          </a:stretch>
        </p:blipFill>
        <p:spPr>
          <a:xfrm>
            <a:off x="2644375" y="3117175"/>
            <a:ext cx="3143351" cy="1875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7"/>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Logistic Regression Results</a:t>
            </a:r>
            <a:endParaRPr/>
          </a:p>
        </p:txBody>
      </p:sp>
      <p:sp>
        <p:nvSpPr>
          <p:cNvPr id="575" name="Google Shape;575;p67"/>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76" name="Google Shape;576;p67"/>
          <p:cNvSpPr txBox="1"/>
          <p:nvPr/>
        </p:nvSpPr>
        <p:spPr>
          <a:xfrm>
            <a:off x="1392425" y="1379725"/>
            <a:ext cx="172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Montserrat"/>
                <a:ea typeface="Montserrat"/>
                <a:cs typeface="Montserrat"/>
                <a:sym typeface="Montserrat"/>
              </a:rPr>
              <a:t>Realtabformer</a:t>
            </a:r>
            <a:endParaRPr sz="1600">
              <a:solidFill>
                <a:schemeClr val="lt2"/>
              </a:solidFill>
              <a:latin typeface="Montserrat"/>
              <a:ea typeface="Montserrat"/>
              <a:cs typeface="Montserrat"/>
              <a:sym typeface="Montserrat"/>
            </a:endParaRPr>
          </a:p>
        </p:txBody>
      </p:sp>
      <p:sp>
        <p:nvSpPr>
          <p:cNvPr id="577" name="Google Shape;577;p67"/>
          <p:cNvSpPr txBox="1"/>
          <p:nvPr/>
        </p:nvSpPr>
        <p:spPr>
          <a:xfrm>
            <a:off x="6067625" y="1379725"/>
            <a:ext cx="1135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Montserrat"/>
                <a:ea typeface="Montserrat"/>
                <a:cs typeface="Montserrat"/>
                <a:sym typeface="Montserrat"/>
              </a:rPr>
              <a:t>CTGAN</a:t>
            </a:r>
            <a:endParaRPr sz="1800">
              <a:solidFill>
                <a:schemeClr val="lt2"/>
              </a:solidFill>
              <a:latin typeface="Montserrat"/>
              <a:ea typeface="Montserrat"/>
              <a:cs typeface="Montserrat"/>
              <a:sym typeface="Montserrat"/>
            </a:endParaRPr>
          </a:p>
        </p:txBody>
      </p:sp>
      <p:pic>
        <p:nvPicPr>
          <p:cNvPr id="578" name="Google Shape;578;p67"/>
          <p:cNvPicPr preferRelativeResize="0"/>
          <p:nvPr/>
        </p:nvPicPr>
        <p:blipFill>
          <a:blip r:embed="rId3">
            <a:alphaModFix/>
          </a:blip>
          <a:stretch>
            <a:fillRect/>
          </a:stretch>
        </p:blipFill>
        <p:spPr>
          <a:xfrm>
            <a:off x="380675" y="1963225"/>
            <a:ext cx="3752100" cy="3027875"/>
          </a:xfrm>
          <a:prstGeom prst="rect">
            <a:avLst/>
          </a:prstGeom>
          <a:noFill/>
          <a:ln>
            <a:noFill/>
          </a:ln>
        </p:spPr>
      </p:pic>
      <p:pic>
        <p:nvPicPr>
          <p:cNvPr id="579" name="Google Shape;579;p67"/>
          <p:cNvPicPr preferRelativeResize="0"/>
          <p:nvPr/>
        </p:nvPicPr>
        <p:blipFill>
          <a:blip r:embed="rId4">
            <a:alphaModFix/>
          </a:blip>
          <a:stretch>
            <a:fillRect/>
          </a:stretch>
        </p:blipFill>
        <p:spPr>
          <a:xfrm>
            <a:off x="4755200" y="1963225"/>
            <a:ext cx="3760057" cy="3027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8"/>
          <p:cNvSpPr txBox="1"/>
          <p:nvPr>
            <p:ph type="title"/>
          </p:nvPr>
        </p:nvSpPr>
        <p:spPr>
          <a:xfrm>
            <a:off x="256025" y="213150"/>
            <a:ext cx="62469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Logistic Regression Interpretation </a:t>
            </a:r>
            <a:endParaRPr/>
          </a:p>
        </p:txBody>
      </p:sp>
      <p:sp>
        <p:nvSpPr>
          <p:cNvPr id="585" name="Google Shape;585;p68"/>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86" name="Google Shape;586;p68"/>
          <p:cNvSpPr txBox="1"/>
          <p:nvPr>
            <p:ph idx="1" type="body"/>
          </p:nvPr>
        </p:nvSpPr>
        <p:spPr>
          <a:xfrm>
            <a:off x="255975" y="1547275"/>
            <a:ext cx="8364900" cy="1354500"/>
          </a:xfrm>
          <a:prstGeom prst="rect">
            <a:avLst/>
          </a:prstGeom>
        </p:spPr>
        <p:txBody>
          <a:bodyPr anchorCtr="0" anchor="t" bIns="0" lIns="0" spcFirstLastPara="1" rIns="0" wrap="square" tIns="0">
            <a:spAutoFit/>
          </a:bodyPr>
          <a:lstStyle/>
          <a:p>
            <a:pPr indent="-330200" lvl="0" marL="457200" rtl="0" algn="l">
              <a:lnSpc>
                <a:spcPct val="150000"/>
              </a:lnSpc>
              <a:spcBef>
                <a:spcPts val="0"/>
              </a:spcBef>
              <a:spcAft>
                <a:spcPts val="0"/>
              </a:spcAft>
              <a:buSzPts val="1600"/>
              <a:buChar char="●"/>
            </a:pPr>
            <a:r>
              <a:rPr lang="en" sz="1600"/>
              <a:t>City dominates model signal</a:t>
            </a:r>
            <a:endParaRPr sz="1600"/>
          </a:p>
          <a:p>
            <a:pPr indent="-330200" lvl="0" marL="457200" rtl="0" algn="l">
              <a:lnSpc>
                <a:spcPct val="150000"/>
              </a:lnSpc>
              <a:spcBef>
                <a:spcPts val="0"/>
              </a:spcBef>
              <a:spcAft>
                <a:spcPts val="0"/>
              </a:spcAft>
              <a:buSzPts val="1600"/>
              <a:buChar char="●"/>
            </a:pPr>
            <a:r>
              <a:rPr lang="en" sz="1600">
                <a:solidFill>
                  <a:srgbClr val="000000"/>
                </a:solidFill>
              </a:rPr>
              <a:t>Device type &amp; size matter</a:t>
            </a:r>
            <a:endParaRPr sz="1600"/>
          </a:p>
          <a:p>
            <a:pPr indent="-330200" lvl="0" marL="457200" rtl="0" algn="l">
              <a:lnSpc>
                <a:spcPct val="150000"/>
              </a:lnSpc>
              <a:spcBef>
                <a:spcPts val="0"/>
              </a:spcBef>
              <a:spcAft>
                <a:spcPts val="0"/>
              </a:spcAft>
              <a:buSzPts val="1600"/>
              <a:buChar char="●"/>
            </a:pPr>
            <a:r>
              <a:rPr lang="en" sz="1600">
                <a:solidFill>
                  <a:srgbClr val="000000"/>
                </a:solidFill>
              </a:rPr>
              <a:t>Slot ID strongly predictive</a:t>
            </a:r>
            <a:endParaRPr sz="1600">
              <a:solidFill>
                <a:srgbClr val="000000"/>
              </a:solidFill>
            </a:endParaRPr>
          </a:p>
          <a:p>
            <a:pPr indent="-330200" lvl="0" marL="457200" rtl="0" algn="l">
              <a:lnSpc>
                <a:spcPct val="150000"/>
              </a:lnSpc>
              <a:spcBef>
                <a:spcPts val="0"/>
              </a:spcBef>
              <a:spcAft>
                <a:spcPts val="0"/>
              </a:spcAft>
              <a:buSzPts val="1600"/>
              <a:buChar char="●"/>
            </a:pPr>
            <a:r>
              <a:rPr lang="en" sz="1600">
                <a:solidFill>
                  <a:srgbClr val="000000"/>
                </a:solidFill>
              </a:rPr>
              <a:t>Other features have small effects</a:t>
            </a:r>
            <a:endParaRPr sz="1300"/>
          </a:p>
        </p:txBody>
      </p:sp>
      <p:pic>
        <p:nvPicPr>
          <p:cNvPr id="587" name="Google Shape;587;p68"/>
          <p:cNvPicPr preferRelativeResize="0"/>
          <p:nvPr/>
        </p:nvPicPr>
        <p:blipFill>
          <a:blip r:embed="rId3">
            <a:alphaModFix/>
          </a:blip>
          <a:stretch>
            <a:fillRect/>
          </a:stretch>
        </p:blipFill>
        <p:spPr>
          <a:xfrm>
            <a:off x="4163975" y="1547269"/>
            <a:ext cx="4724075" cy="337548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9"/>
          <p:cNvSpPr txBox="1"/>
          <p:nvPr>
            <p:ph type="title"/>
          </p:nvPr>
        </p:nvSpPr>
        <p:spPr>
          <a:xfrm>
            <a:off x="256025" y="213150"/>
            <a:ext cx="63840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XGBoost Results</a:t>
            </a:r>
            <a:endParaRPr/>
          </a:p>
        </p:txBody>
      </p:sp>
      <p:sp>
        <p:nvSpPr>
          <p:cNvPr id="593" name="Google Shape;593;p6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sp>
        <p:nvSpPr>
          <p:cNvPr id="594" name="Google Shape;594;p69"/>
          <p:cNvSpPr txBox="1"/>
          <p:nvPr>
            <p:ph idx="1" type="body"/>
          </p:nvPr>
        </p:nvSpPr>
        <p:spPr>
          <a:xfrm>
            <a:off x="1330325" y="1532075"/>
            <a:ext cx="1712100" cy="246300"/>
          </a:xfrm>
          <a:prstGeom prst="rect">
            <a:avLst/>
          </a:prstGeom>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 sz="1600"/>
              <a:t>Realtabformer</a:t>
            </a:r>
            <a:endParaRPr sz="1600"/>
          </a:p>
        </p:txBody>
      </p:sp>
      <p:sp>
        <p:nvSpPr>
          <p:cNvPr id="595" name="Google Shape;595;p69"/>
          <p:cNvSpPr txBox="1"/>
          <p:nvPr/>
        </p:nvSpPr>
        <p:spPr>
          <a:xfrm>
            <a:off x="5891675" y="1439675"/>
            <a:ext cx="93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2"/>
                </a:solidFill>
                <a:latin typeface="Montserrat"/>
                <a:ea typeface="Montserrat"/>
                <a:cs typeface="Montserrat"/>
                <a:sym typeface="Montserrat"/>
              </a:rPr>
              <a:t>CTGAN</a:t>
            </a:r>
            <a:endParaRPr sz="1600">
              <a:solidFill>
                <a:schemeClr val="lt2"/>
              </a:solidFill>
              <a:latin typeface="Montserrat"/>
              <a:ea typeface="Montserrat"/>
              <a:cs typeface="Montserrat"/>
              <a:sym typeface="Montserrat"/>
            </a:endParaRPr>
          </a:p>
        </p:txBody>
      </p:sp>
      <p:pic>
        <p:nvPicPr>
          <p:cNvPr id="596" name="Google Shape;596;p69"/>
          <p:cNvPicPr preferRelativeResize="0"/>
          <p:nvPr/>
        </p:nvPicPr>
        <p:blipFill>
          <a:blip r:embed="rId3">
            <a:alphaModFix/>
          </a:blip>
          <a:stretch>
            <a:fillRect/>
          </a:stretch>
        </p:blipFill>
        <p:spPr>
          <a:xfrm>
            <a:off x="152400" y="1930775"/>
            <a:ext cx="3753086" cy="3060325"/>
          </a:xfrm>
          <a:prstGeom prst="rect">
            <a:avLst/>
          </a:prstGeom>
          <a:noFill/>
          <a:ln>
            <a:noFill/>
          </a:ln>
        </p:spPr>
      </p:pic>
      <p:pic>
        <p:nvPicPr>
          <p:cNvPr id="597" name="Google Shape;597;p69"/>
          <p:cNvPicPr preferRelativeResize="0"/>
          <p:nvPr/>
        </p:nvPicPr>
        <p:blipFill>
          <a:blip r:embed="rId4">
            <a:alphaModFix/>
          </a:blip>
          <a:stretch>
            <a:fillRect/>
          </a:stretch>
        </p:blipFill>
        <p:spPr>
          <a:xfrm>
            <a:off x="4572000" y="1930775"/>
            <a:ext cx="3781324" cy="3060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0"/>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(7) XGBoost Feature Importance</a:t>
            </a:r>
            <a:endParaRPr/>
          </a:p>
        </p:txBody>
      </p:sp>
      <p:sp>
        <p:nvSpPr>
          <p:cNvPr id="603" name="Google Shape;603;p70"/>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p:txBody>
      </p:sp>
      <p:pic>
        <p:nvPicPr>
          <p:cNvPr id="604" name="Google Shape;604;p70"/>
          <p:cNvPicPr preferRelativeResize="0"/>
          <p:nvPr/>
        </p:nvPicPr>
        <p:blipFill>
          <a:blip r:embed="rId3">
            <a:alphaModFix/>
          </a:blip>
          <a:stretch>
            <a:fillRect/>
          </a:stretch>
        </p:blipFill>
        <p:spPr>
          <a:xfrm>
            <a:off x="685025" y="1442350"/>
            <a:ext cx="3002676" cy="3609905"/>
          </a:xfrm>
          <a:prstGeom prst="rect">
            <a:avLst/>
          </a:prstGeom>
          <a:noFill/>
          <a:ln>
            <a:noFill/>
          </a:ln>
        </p:spPr>
      </p:pic>
      <p:pic>
        <p:nvPicPr>
          <p:cNvPr id="605" name="Google Shape;605;p70"/>
          <p:cNvPicPr preferRelativeResize="0"/>
          <p:nvPr/>
        </p:nvPicPr>
        <p:blipFill>
          <a:blip r:embed="rId4">
            <a:alphaModFix/>
          </a:blip>
          <a:stretch>
            <a:fillRect/>
          </a:stretch>
        </p:blipFill>
        <p:spPr>
          <a:xfrm>
            <a:off x="4873200" y="1442350"/>
            <a:ext cx="3002676" cy="360988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1"/>
          <p:cNvSpPr txBox="1"/>
          <p:nvPr>
            <p:ph type="title"/>
          </p:nvPr>
        </p:nvSpPr>
        <p:spPr>
          <a:xfrm>
            <a:off x="256025" y="213150"/>
            <a:ext cx="5750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(8) Conclusions</a:t>
            </a:r>
            <a:endParaRPr/>
          </a:p>
          <a:p>
            <a:pPr indent="0" lvl="0" marL="0" rtl="0" algn="l">
              <a:spcBef>
                <a:spcPts val="0"/>
              </a:spcBef>
              <a:spcAft>
                <a:spcPts val="0"/>
              </a:spcAft>
              <a:buNone/>
            </a:pPr>
            <a:r>
              <a:t/>
            </a:r>
            <a:endParaRPr/>
          </a:p>
        </p:txBody>
      </p:sp>
      <p:sp>
        <p:nvSpPr>
          <p:cNvPr id="611" name="Google Shape;611;p71"/>
          <p:cNvSpPr txBox="1"/>
          <p:nvPr>
            <p:ph idx="1" type="body"/>
          </p:nvPr>
        </p:nvSpPr>
        <p:spPr>
          <a:xfrm>
            <a:off x="240500" y="1608500"/>
            <a:ext cx="8553300" cy="2801400"/>
          </a:xfrm>
          <a:prstGeom prst="rect">
            <a:avLst/>
          </a:prstGeom>
        </p:spPr>
        <p:txBody>
          <a:bodyPr anchorCtr="0" anchor="t" bIns="0" lIns="0" spcFirstLastPara="1" rIns="0" wrap="square" tIns="0">
            <a:spAutoFit/>
          </a:bodyPr>
          <a:lstStyle/>
          <a:p>
            <a:pPr indent="-317500" lvl="1" marL="914400" rtl="0" algn="l">
              <a:lnSpc>
                <a:spcPct val="150000"/>
              </a:lnSpc>
              <a:spcBef>
                <a:spcPts val="0"/>
              </a:spcBef>
              <a:spcAft>
                <a:spcPts val="0"/>
              </a:spcAft>
              <a:buSzPts val="1400"/>
              <a:buAutoNum type="arabicPeriod"/>
            </a:pPr>
            <a:r>
              <a:rPr lang="en" sz="1400"/>
              <a:t>Pruning improved CTR signal and reduced computational burden</a:t>
            </a:r>
            <a:endParaRPr sz="1400"/>
          </a:p>
          <a:p>
            <a:pPr indent="-317500" lvl="1" marL="914400" rtl="0" algn="l">
              <a:lnSpc>
                <a:spcPct val="150000"/>
              </a:lnSpc>
              <a:spcBef>
                <a:spcPts val="0"/>
              </a:spcBef>
              <a:spcAft>
                <a:spcPts val="0"/>
              </a:spcAft>
              <a:buSzPts val="1400"/>
              <a:buAutoNum type="arabicPeriod"/>
            </a:pPr>
            <a:r>
              <a:rPr lang="en" sz="1400"/>
              <a:t>The ideal synthetic-to-real ratios varied by model type</a:t>
            </a:r>
            <a:endParaRPr sz="1400"/>
          </a:p>
          <a:p>
            <a:pPr indent="-317500" lvl="2" marL="1371600" rtl="0" algn="l">
              <a:lnSpc>
                <a:spcPct val="150000"/>
              </a:lnSpc>
              <a:spcBef>
                <a:spcPts val="0"/>
              </a:spcBef>
              <a:spcAft>
                <a:spcPts val="0"/>
              </a:spcAft>
              <a:buSzPts val="1400"/>
              <a:buChar char="■"/>
            </a:pPr>
            <a:r>
              <a:rPr lang="en" sz="1400"/>
              <a:t>Logistic Regression performed best at very low synthetic ratios (0.0×–0.36×) and degraded steadily as synthetic proportion increased.</a:t>
            </a:r>
            <a:endParaRPr sz="1400"/>
          </a:p>
          <a:p>
            <a:pPr indent="-317500" lvl="2" marL="1371600" rtl="0" algn="l">
              <a:lnSpc>
                <a:spcPct val="150000"/>
              </a:lnSpc>
              <a:spcBef>
                <a:spcPts val="0"/>
              </a:spcBef>
              <a:spcAft>
                <a:spcPts val="0"/>
              </a:spcAft>
              <a:buSzPts val="1400"/>
              <a:buChar char="■"/>
            </a:pPr>
            <a:r>
              <a:rPr lang="en" sz="1400"/>
              <a:t>XGBoost performed well even with high synthetic ratios (0.87×–1.38×), showing that more synthetic data can improve a strong nonlinear model</a:t>
            </a:r>
            <a:endParaRPr sz="1400"/>
          </a:p>
          <a:p>
            <a:pPr indent="-317500" lvl="2" marL="1371600" rtl="0" algn="l">
              <a:lnSpc>
                <a:spcPct val="150000"/>
              </a:lnSpc>
              <a:spcBef>
                <a:spcPts val="0"/>
              </a:spcBef>
              <a:spcAft>
                <a:spcPts val="0"/>
              </a:spcAft>
              <a:buSzPts val="1400"/>
              <a:buChar char="■"/>
            </a:pPr>
            <a:r>
              <a:rPr lang="en" sz="1400"/>
              <a:t>REaLTabFormer tolerated higher ratios than CTGAN, which degraded faster</a:t>
            </a:r>
            <a:endParaRPr sz="1400"/>
          </a:p>
          <a:p>
            <a:pPr indent="-317500" lvl="1" marL="914400" rtl="0" algn="l">
              <a:lnSpc>
                <a:spcPct val="150000"/>
              </a:lnSpc>
              <a:spcBef>
                <a:spcPts val="0"/>
              </a:spcBef>
              <a:spcAft>
                <a:spcPts val="0"/>
              </a:spcAft>
              <a:buSzPts val="1400"/>
              <a:buAutoNum type="arabicPeriod"/>
            </a:pPr>
            <a:r>
              <a:rPr lang="en" sz="1400"/>
              <a:t>Synthetic data marginally improves model’s prediction power over random classifier</a:t>
            </a:r>
            <a:endParaRPr sz="1400"/>
          </a:p>
          <a:p>
            <a:pPr indent="-317500" lvl="1" marL="914400" rtl="0" algn="l">
              <a:lnSpc>
                <a:spcPct val="150000"/>
              </a:lnSpc>
              <a:spcBef>
                <a:spcPts val="0"/>
              </a:spcBef>
              <a:spcAft>
                <a:spcPts val="0"/>
              </a:spcAft>
              <a:buSzPts val="1400"/>
              <a:buAutoNum type="arabicPeriod"/>
            </a:pPr>
            <a:r>
              <a:rPr b="1" lang="en" sz="1400"/>
              <a:t>REaLTabFormer performed best across fidelity and utility</a:t>
            </a:r>
            <a:endParaRPr b="1" sz="1400"/>
          </a:p>
        </p:txBody>
      </p:sp>
      <p:sp>
        <p:nvSpPr>
          <p:cNvPr id="612" name="Google Shape;612;p71"/>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2"/>
          <p:cNvSpPr txBox="1"/>
          <p:nvPr>
            <p:ph type="title"/>
          </p:nvPr>
        </p:nvSpPr>
        <p:spPr>
          <a:xfrm>
            <a:off x="256025" y="213150"/>
            <a:ext cx="5750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(8) Limitations/Future Steps</a:t>
            </a:r>
            <a:endParaRPr/>
          </a:p>
          <a:p>
            <a:pPr indent="0" lvl="0" marL="0" rtl="0" algn="l">
              <a:spcBef>
                <a:spcPts val="0"/>
              </a:spcBef>
              <a:spcAft>
                <a:spcPts val="0"/>
              </a:spcAft>
              <a:buNone/>
            </a:pPr>
            <a:r>
              <a:t/>
            </a:r>
            <a:endParaRPr/>
          </a:p>
        </p:txBody>
      </p:sp>
      <p:sp>
        <p:nvSpPr>
          <p:cNvPr id="618" name="Google Shape;618;p72"/>
          <p:cNvSpPr txBox="1"/>
          <p:nvPr>
            <p:ph idx="1" type="body"/>
          </p:nvPr>
        </p:nvSpPr>
        <p:spPr>
          <a:xfrm>
            <a:off x="255975" y="1547275"/>
            <a:ext cx="8364900" cy="3099000"/>
          </a:xfrm>
          <a:prstGeom prst="rect">
            <a:avLst/>
          </a:prstGeom>
        </p:spPr>
        <p:txBody>
          <a:bodyPr anchorCtr="0" anchor="t" bIns="0" lIns="0" spcFirstLastPara="1" rIns="0" wrap="square" tIns="0">
            <a:spAutoFit/>
          </a:bodyPr>
          <a:lstStyle/>
          <a:p>
            <a:pPr indent="-323850" lvl="0" marL="457200" rtl="0" algn="l">
              <a:lnSpc>
                <a:spcPct val="150000"/>
              </a:lnSpc>
              <a:spcBef>
                <a:spcPts val="0"/>
              </a:spcBef>
              <a:spcAft>
                <a:spcPts val="0"/>
              </a:spcAft>
              <a:buSzPts val="1500"/>
              <a:buChar char="●"/>
            </a:pPr>
            <a:r>
              <a:rPr b="1" lang="en" sz="1500"/>
              <a:t>Limitations: </a:t>
            </a:r>
            <a:endParaRPr sz="1500"/>
          </a:p>
          <a:p>
            <a:pPr indent="-323850" lvl="1" marL="914400" rtl="0" algn="l">
              <a:lnSpc>
                <a:spcPct val="150000"/>
              </a:lnSpc>
              <a:spcBef>
                <a:spcPts val="0"/>
              </a:spcBef>
              <a:spcAft>
                <a:spcPts val="0"/>
              </a:spcAft>
              <a:buSzPts val="1500"/>
              <a:buChar char="○"/>
            </a:pPr>
            <a:r>
              <a:rPr lang="en" sz="1500"/>
              <a:t>Training cost and instability — ReaLTabFormer required long training times and hyperparameters were adjusted to speed up the process</a:t>
            </a:r>
            <a:endParaRPr sz="1500"/>
          </a:p>
          <a:p>
            <a:pPr indent="-323850" lvl="1" marL="914400" rtl="0" algn="l">
              <a:lnSpc>
                <a:spcPct val="150000"/>
              </a:lnSpc>
              <a:spcBef>
                <a:spcPts val="0"/>
              </a:spcBef>
              <a:spcAft>
                <a:spcPts val="0"/>
              </a:spcAft>
              <a:buSzPts val="1500"/>
              <a:buChar char="○"/>
            </a:pPr>
            <a:r>
              <a:rPr lang="en" sz="1500"/>
              <a:t>Evaluation limited to two synthesizers (CTGAN + RTF)</a:t>
            </a:r>
            <a:endParaRPr sz="1500"/>
          </a:p>
          <a:p>
            <a:pPr indent="-323850" lvl="0" marL="457200" rtl="0" algn="l">
              <a:lnSpc>
                <a:spcPct val="150000"/>
              </a:lnSpc>
              <a:spcBef>
                <a:spcPts val="0"/>
              </a:spcBef>
              <a:spcAft>
                <a:spcPts val="0"/>
              </a:spcAft>
              <a:buSzPts val="1500"/>
              <a:buChar char="●"/>
            </a:pPr>
            <a:r>
              <a:rPr b="1" lang="en" sz="1500"/>
              <a:t>Future work: </a:t>
            </a:r>
            <a:endParaRPr b="1" sz="1500"/>
          </a:p>
          <a:p>
            <a:pPr indent="-323850" lvl="1" marL="914400" rtl="0" algn="l">
              <a:lnSpc>
                <a:spcPct val="150000"/>
              </a:lnSpc>
              <a:spcBef>
                <a:spcPts val="0"/>
              </a:spcBef>
              <a:spcAft>
                <a:spcPts val="0"/>
              </a:spcAft>
              <a:buSzPts val="1500"/>
              <a:buChar char="○"/>
            </a:pPr>
            <a:r>
              <a:rPr lang="en" sz="1500"/>
              <a:t>Run more comprehensive privacy evaluations </a:t>
            </a:r>
            <a:endParaRPr sz="1500"/>
          </a:p>
          <a:p>
            <a:pPr indent="-323850" lvl="1" marL="914400" rtl="0" algn="l">
              <a:lnSpc>
                <a:spcPct val="150000"/>
              </a:lnSpc>
              <a:spcBef>
                <a:spcPts val="0"/>
              </a:spcBef>
              <a:spcAft>
                <a:spcPts val="0"/>
              </a:spcAft>
              <a:buSzPts val="1500"/>
              <a:buChar char="○"/>
            </a:pPr>
            <a:r>
              <a:rPr lang="en" sz="1500"/>
              <a:t>Experiment with more recent LLMs </a:t>
            </a:r>
            <a:endParaRPr sz="1500"/>
          </a:p>
          <a:p>
            <a:pPr indent="-323850" lvl="1" marL="914400" rtl="0" algn="l">
              <a:lnSpc>
                <a:spcPct val="150000"/>
              </a:lnSpc>
              <a:spcBef>
                <a:spcPts val="0"/>
              </a:spcBef>
              <a:spcAft>
                <a:spcPts val="0"/>
              </a:spcAft>
              <a:buSzPts val="1500"/>
              <a:buChar char="○"/>
            </a:pPr>
            <a:r>
              <a:rPr lang="en" sz="1500"/>
              <a:t>Scale synthetic training to full dataset instead of subsets</a:t>
            </a:r>
            <a:endParaRPr sz="1500"/>
          </a:p>
          <a:p>
            <a:pPr indent="0" lvl="0" marL="0" rtl="0" algn="l">
              <a:lnSpc>
                <a:spcPct val="150000"/>
              </a:lnSpc>
              <a:spcBef>
                <a:spcPts val="1000"/>
              </a:spcBef>
              <a:spcAft>
                <a:spcPts val="1000"/>
              </a:spcAft>
              <a:buNone/>
            </a:pPr>
            <a:r>
              <a:t/>
            </a:r>
            <a:endParaRPr sz="1300"/>
          </a:p>
        </p:txBody>
      </p:sp>
      <p:sp>
        <p:nvSpPr>
          <p:cNvPr id="619" name="Google Shape;619;p72"/>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December 2025</a:t>
            </a:r>
            <a:endParaRPr/>
          </a:p>
          <a:p>
            <a:pPr indent="0" lvl="0" marL="0" rtl="0" algn="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3"/>
          <p:cNvSpPr txBox="1"/>
          <p:nvPr>
            <p:ph type="title"/>
          </p:nvPr>
        </p:nvSpPr>
        <p:spPr>
          <a:xfrm>
            <a:off x="2322425" y="602225"/>
            <a:ext cx="6565800" cy="64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a:t>
            </a:r>
            <a:endParaRPr/>
          </a:p>
        </p:txBody>
      </p:sp>
      <p:sp>
        <p:nvSpPr>
          <p:cNvPr id="625" name="Google Shape;625;p73"/>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